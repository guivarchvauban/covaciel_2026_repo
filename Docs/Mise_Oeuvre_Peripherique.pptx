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1236" y="-90"/>
      </p:cViewPr>
      <p:guideLst>
        <p:guide pos="2160" orient="horz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Blank Slide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/>
          <p:nvPr/>
        </p:nvSpPr>
        <p:spPr bwMode="auto">
          <a:xfrm>
            <a:off x="0" y="6400800"/>
            <a:ext cx="9141480" cy="4546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defRPr/>
            </a:pPr>
            <a:endParaRPr lang="fr-FR" sz="1800" b="0" u="none" strike="noStrike">
              <a:solidFill>
                <a:srgbClr val="000000"/>
              </a:solidFill>
              <a:latin typeface="Calibri"/>
              <a:ea typeface="DejaVu Sans"/>
            </a:endParaRPr>
          </a:p>
        </p:txBody>
      </p:sp>
      <p:sp>
        <p:nvSpPr>
          <p:cNvPr id="3" name="Rectangle 8"/>
          <p:cNvSpPr/>
          <p:nvPr/>
        </p:nvSpPr>
        <p:spPr bwMode="auto">
          <a:xfrm>
            <a:off x="0" y="6334200"/>
            <a:ext cx="9141480" cy="63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9800" rIns="90000" bIns="19800" anchor="t">
            <a:noAutofit/>
          </a:bodyPr>
          <a:p>
            <a:pPr defTabSz="914400">
              <a:lnSpc>
                <a:spcPct val="100000"/>
              </a:lnSpc>
              <a:defRPr/>
            </a:pPr>
            <a:endParaRPr lang="fr-FR" sz="1800" b="0" u="none" strike="noStrike">
              <a:solidFill>
                <a:srgbClr val="000000"/>
              </a:solidFill>
              <a:latin typeface="Calibri"/>
              <a:ea typeface="DejaVu Sans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ftr" idx="1"/>
          </p:nvPr>
        </p:nvSpPr>
        <p:spPr bwMode="auto">
          <a:xfrm>
            <a:off x="0" y="6400440"/>
            <a:ext cx="8157600" cy="408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fr-FR" sz="2000" b="1" u="none" strike="noStrike" cap="all">
                <a:solidFill>
                  <a:srgbClr val="FFFFFF"/>
                </a:solidFill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fr-FR" sz="2000" b="1" u="none" strike="noStrike" cap="all">
                <a:solidFill>
                  <a:srgbClr val="FFFFFF"/>
                </a:solidFill>
                <a:latin typeface="Arial"/>
                <a:ea typeface="DejaVu Sans"/>
              </a:rPr>
              <a:t>&lt;pied de page&gt;</a:t>
            </a:r>
            <a:endParaRPr lang="fr-FR" sz="2000" b="0" u="none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ldNum" idx="2"/>
          </p:nvPr>
        </p:nvSpPr>
        <p:spPr bwMode="auto">
          <a:xfrm>
            <a:off x="8160120" y="6446880"/>
            <a:ext cx="981360" cy="36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FR" sz="1600" b="1" u="none" strike="noStrike">
                <a:solidFill>
                  <a:srgbClr val="FFFFFF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556708ED-160A-49FB-B9BA-F6E951ABB939}" type="slidenum">
              <a:rPr lang="fr-FR" sz="1600" b="1" u="none" strike="noStrike">
                <a:solidFill>
                  <a:srgbClr val="FFFFFF"/>
                </a:solidFill>
                <a:latin typeface="Arial"/>
                <a:ea typeface="DejaVu Sans"/>
              </a:rPr>
              <a:t/>
            </a:fld>
            <a:endParaRPr lang="fr-FR" sz="1600" b="0" u="none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title"/>
          </p:nvPr>
        </p:nvSpPr>
        <p:spPr bwMode="auto"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r>
              <a:rPr lang="fr-FR" sz="4400" b="0" u="none" strike="noStrike">
                <a:solidFill>
                  <a:srgbClr val="000000"/>
                </a:solidFill>
                <a:latin typeface="Calibri"/>
              </a:rPr>
              <a:t>Cliquez pour éditer le format du texte-titre</a:t>
            </a:r>
            <a:endParaRPr lang="fr-FR" sz="4400" b="0" u="none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body"/>
          </p:nvPr>
        </p:nvSpPr>
        <p:spPr bwMode="auto"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3200" b="0" u="none" strike="noStrike">
                <a:solidFill>
                  <a:srgbClr val="000000"/>
                </a:solidFill>
                <a:latin typeface="Calibri"/>
              </a:rPr>
              <a:t>Cliquez pour éditer le format du plan de texte</a:t>
            </a:r>
            <a:endParaRPr lang="fr-FR" sz="3200" b="0" u="none" strike="noStrike">
              <a:solidFill>
                <a:srgbClr val="000000"/>
              </a:solidFill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fr-FR" sz="2800" b="0" u="none" strike="noStrike">
                <a:solidFill>
                  <a:srgbClr val="000000"/>
                </a:solidFill>
                <a:latin typeface="Calibri"/>
              </a:rPr>
              <a:t>Second niveau de plan</a:t>
            </a:r>
            <a:endParaRPr lang="fr-FR" sz="2800" b="0" u="none" strike="noStrike">
              <a:solidFill>
                <a:srgbClr val="000000"/>
              </a:solidFill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400" b="0" u="none" strike="noStrike">
                <a:solidFill>
                  <a:srgbClr val="000000"/>
                </a:solidFill>
                <a:latin typeface="Calibri"/>
              </a:rPr>
              <a:t>Troisième niveau de plan</a:t>
            </a:r>
            <a:endParaRPr lang="fr-FR" sz="2400" b="0" u="none" strike="noStrike">
              <a:solidFill>
                <a:srgbClr val="000000"/>
              </a:solidFill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fr-FR" sz="2000" b="0" u="none" strike="noStrike">
                <a:solidFill>
                  <a:srgbClr val="000000"/>
                </a:solidFill>
                <a:latin typeface="Calibri"/>
              </a:rPr>
              <a:t>Quatrième niveau de plan</a:t>
            </a:r>
            <a:endParaRPr lang="fr-FR" sz="2000" b="0" u="none" strike="noStrike">
              <a:solidFill>
                <a:srgbClr val="000000"/>
              </a:solidFill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u="none" strike="noStrike">
                <a:solidFill>
                  <a:srgbClr val="000000"/>
                </a:solidFill>
                <a:latin typeface="Calibri"/>
              </a:rPr>
              <a:t>Cinquième niveau de plan</a:t>
            </a:r>
            <a:endParaRPr lang="fr-FR" sz="2000" b="0" u="none" strike="noStrike">
              <a:solidFill>
                <a:srgbClr val="000000"/>
              </a:solidFill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u="none" strike="noStrike">
                <a:solidFill>
                  <a:srgbClr val="000000"/>
                </a:solidFill>
                <a:latin typeface="Calibri"/>
              </a:rPr>
              <a:t>Sixième niveau de plan</a:t>
            </a:r>
            <a:endParaRPr lang="fr-FR" sz="2000" b="0" u="none" strike="noStrike">
              <a:solidFill>
                <a:srgbClr val="000000"/>
              </a:solidFill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u="none" strike="noStrike">
                <a:solidFill>
                  <a:srgbClr val="000000"/>
                </a:solidFill>
                <a:latin typeface="Calibri"/>
              </a:rPr>
              <a:t>Septième niveau de plan</a:t>
            </a:r>
            <a:endParaRPr lang="fr-FR" sz="2000" b="0" u="none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Blank Slide_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" name="Rectangle 6"/>
          <p:cNvSpPr/>
          <p:nvPr/>
        </p:nvSpPr>
        <p:spPr bwMode="auto">
          <a:xfrm>
            <a:off x="0" y="6400800"/>
            <a:ext cx="9141480" cy="4546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fr-FR" sz="1800" b="0" u="none" strike="noStrike">
              <a:solidFill>
                <a:srgbClr val="000000"/>
              </a:solidFill>
              <a:latin typeface="Calibri"/>
              <a:ea typeface="DejaVu Sans"/>
            </a:endParaRPr>
          </a:p>
        </p:txBody>
      </p:sp>
      <p:sp>
        <p:nvSpPr>
          <p:cNvPr id="109" name="Rectangle 8"/>
          <p:cNvSpPr/>
          <p:nvPr/>
        </p:nvSpPr>
        <p:spPr bwMode="auto">
          <a:xfrm>
            <a:off x="0" y="6334200"/>
            <a:ext cx="9141480" cy="63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9800" rIns="90000" bIns="19800" anchor="t">
            <a:noAutofit/>
          </a:bodyPr>
          <a:p>
            <a:pPr>
              <a:defRPr/>
            </a:pPr>
            <a:endParaRPr lang="fr-FR" sz="1800" b="0" u="none" strike="noStrike">
              <a:solidFill>
                <a:srgbClr val="000000"/>
              </a:solidFill>
              <a:latin typeface="Calibri"/>
              <a:ea typeface="DejaVu Sans"/>
            </a:endParaRPr>
          </a:p>
        </p:txBody>
      </p:sp>
      <p:sp>
        <p:nvSpPr>
          <p:cNvPr id="110" name="PlaceHolder 1"/>
          <p:cNvSpPr>
            <a:spLocks noGrp="1"/>
          </p:cNvSpPr>
          <p:nvPr>
            <p:ph type="ftr" idx="25"/>
          </p:nvPr>
        </p:nvSpPr>
        <p:spPr bwMode="auto">
          <a:xfrm>
            <a:off x="0" y="6400440"/>
            <a:ext cx="8157600" cy="408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fr-FR" sz="2000" b="1" u="none" strike="noStrike" cap="all">
                <a:solidFill>
                  <a:srgbClr val="FFFFFF"/>
                </a:solidFill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fr-FR" sz="2000" b="1" u="none" strike="noStrike" cap="all">
                <a:solidFill>
                  <a:srgbClr val="FFFFFF"/>
                </a:solidFill>
                <a:latin typeface="Arial"/>
                <a:ea typeface="DejaVu Sans"/>
              </a:rPr>
              <a:t>&lt;pied de page&gt;</a:t>
            </a:r>
            <a:endParaRPr lang="fr-FR" sz="2000" b="0" u="none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sldNum" idx="26"/>
          </p:nvPr>
        </p:nvSpPr>
        <p:spPr bwMode="auto">
          <a:xfrm>
            <a:off x="8160120" y="6446880"/>
            <a:ext cx="981360" cy="36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FR" sz="1600" b="1" u="none" strike="noStrike">
                <a:solidFill>
                  <a:srgbClr val="FFFFFF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73C8568B-4F50-4D84-93D9-D71985D6F2D7}" type="slidenum">
              <a:rPr lang="fr-FR" sz="1600" b="1" u="none" strike="noStrike">
                <a:solidFill>
                  <a:srgbClr val="FFFFFF"/>
                </a:solidFill>
                <a:latin typeface="Arial"/>
                <a:ea typeface="DejaVu Sans"/>
              </a:rPr>
              <a:t/>
            </a:fld>
            <a:endParaRPr lang="fr-FR" sz="1600" b="0" u="none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title"/>
          </p:nvPr>
        </p:nvSpPr>
        <p:spPr bwMode="auto"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r>
              <a:rPr lang="fr-FR" sz="4400" b="0" u="none" strike="noStrike">
                <a:solidFill>
                  <a:srgbClr val="000000"/>
                </a:solidFill>
                <a:latin typeface="Calibri"/>
              </a:rPr>
              <a:t>Cliquez pour éditer le format du texte-titre</a:t>
            </a:r>
            <a:endParaRPr lang="fr-FR" sz="4400" b="0" u="none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body"/>
          </p:nvPr>
        </p:nvSpPr>
        <p:spPr bwMode="auto"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3200" b="0" u="none" strike="noStrike">
                <a:solidFill>
                  <a:srgbClr val="000000"/>
                </a:solidFill>
                <a:latin typeface="Calibri"/>
              </a:rPr>
              <a:t>Cliquez pour éditer le format du plan de texte</a:t>
            </a:r>
            <a:endParaRPr lang="fr-FR" sz="3200" b="0" u="none" strike="noStrike">
              <a:solidFill>
                <a:srgbClr val="000000"/>
              </a:solidFill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fr-FR" sz="2800" b="0" u="none" strike="noStrike">
                <a:solidFill>
                  <a:srgbClr val="000000"/>
                </a:solidFill>
                <a:latin typeface="Calibri"/>
              </a:rPr>
              <a:t>Second niveau de plan</a:t>
            </a:r>
            <a:endParaRPr lang="fr-FR" sz="2800" b="0" u="none" strike="noStrike">
              <a:solidFill>
                <a:srgbClr val="000000"/>
              </a:solidFill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400" b="0" u="none" strike="noStrike">
                <a:solidFill>
                  <a:srgbClr val="000000"/>
                </a:solidFill>
                <a:latin typeface="Calibri"/>
              </a:rPr>
              <a:t>Troisième niveau de plan</a:t>
            </a:r>
            <a:endParaRPr lang="fr-FR" sz="2400" b="0" u="none" strike="noStrike">
              <a:solidFill>
                <a:srgbClr val="000000"/>
              </a:solidFill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fr-FR" sz="2000" b="0" u="none" strike="noStrike">
                <a:solidFill>
                  <a:srgbClr val="000000"/>
                </a:solidFill>
                <a:latin typeface="Calibri"/>
              </a:rPr>
              <a:t>Quatrième niveau de plan</a:t>
            </a:r>
            <a:endParaRPr lang="fr-FR" sz="2000" b="0" u="none" strike="noStrike">
              <a:solidFill>
                <a:srgbClr val="000000"/>
              </a:solidFill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u="none" strike="noStrike">
                <a:solidFill>
                  <a:srgbClr val="000000"/>
                </a:solidFill>
                <a:latin typeface="Calibri"/>
              </a:rPr>
              <a:t>Cinquième niveau de plan</a:t>
            </a:r>
            <a:endParaRPr lang="fr-FR" sz="2000" b="0" u="none" strike="noStrike">
              <a:solidFill>
                <a:srgbClr val="000000"/>
              </a:solidFill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u="none" strike="noStrike">
                <a:solidFill>
                  <a:srgbClr val="000000"/>
                </a:solidFill>
                <a:latin typeface="Calibri"/>
              </a:rPr>
              <a:t>Sixième niveau de plan</a:t>
            </a:r>
            <a:endParaRPr lang="fr-FR" sz="2000" b="0" u="none" strike="noStrike">
              <a:solidFill>
                <a:srgbClr val="000000"/>
              </a:solidFill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fr-FR" sz="2000" b="0" u="none" strike="noStrike">
                <a:solidFill>
                  <a:srgbClr val="000000"/>
                </a:solidFill>
                <a:latin typeface="Calibri"/>
              </a:rPr>
              <a:t>Septième niveau de plan</a:t>
            </a:r>
            <a:endParaRPr lang="fr-FR" sz="2000" b="0" u="none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ftr" idx="27"/>
          </p:nvPr>
        </p:nvSpPr>
        <p:spPr bwMode="auto">
          <a:xfrm>
            <a:off x="0" y="6400440"/>
            <a:ext cx="8157600" cy="408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fr-FR" sz="2000" b="1" u="none" strike="noStrike" cap="all">
                <a:solidFill>
                  <a:srgbClr val="FFFFFF"/>
                </a:solidFill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fr-FR" sz="2000" b="1" u="none" strike="noStrike" cap="all">
                <a:solidFill>
                  <a:srgbClr val="FFFFFF"/>
                </a:solidFill>
                <a:latin typeface="Arial"/>
                <a:ea typeface="DejaVu Sans"/>
              </a:rPr>
              <a:t>BTS CIEL - covaCIEL</a:t>
            </a:r>
            <a:endParaRPr lang="fr-FR" sz="2000" b="0" u="none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ZoneTexte 4"/>
          <p:cNvSpPr/>
          <p:nvPr/>
        </p:nvSpPr>
        <p:spPr bwMode="auto">
          <a:xfrm>
            <a:off x="0" y="131400"/>
            <a:ext cx="91414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defRPr/>
            </a:pPr>
            <a:r>
              <a:rPr lang="fr-FR" sz="2800" b="1" u="none" strike="noStrike">
                <a:solidFill>
                  <a:srgbClr val="746F77"/>
                </a:solidFill>
                <a:latin typeface="Arial"/>
                <a:ea typeface="DejaVu Sans"/>
              </a:rPr>
              <a:t>DIRECTION PWM – Ref  KN-0913LVMG KONECT</a:t>
            </a:r>
            <a:endParaRPr lang="fr-FR" sz="2800" b="0" u="none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16" name="Image 14" descr=""/>
          <p:cNvPicPr/>
          <p:nvPr/>
        </p:nvPicPr>
        <p:blipFill>
          <a:blip r:embed="rId2"/>
          <a:stretch/>
        </p:blipFill>
        <p:spPr bwMode="auto">
          <a:xfrm>
            <a:off x="1988280" y="861120"/>
            <a:ext cx="5218560" cy="335880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17" name="Tableau 15"/>
          <p:cNvGraphicFramePr>
            <a:graphicFrameLocks xmlns:a="http://schemas.openxmlformats.org/drawingml/2006/main"/>
          </p:cNvGraphicFramePr>
          <p:nvPr/>
        </p:nvGraphicFramePr>
        <p:xfrm>
          <a:off x="5098320" y="4381920"/>
          <a:ext cx="3962880" cy="175284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803520"/>
                <a:gridCol w="1675800"/>
                <a:gridCol w="1483920"/>
              </a:tblGrid>
              <a:tr h="37080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endParaRPr lang="fr-FR" sz="1800" b="1" u="none" strike="noStrike">
                        <a:solidFill>
                          <a:schemeClr val="lt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440" marR="91440" marT="45720" marB="45720" anchor="t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38160" algn="ctr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1" u="none" strike="noStrike">
                          <a:solidFill>
                            <a:schemeClr val="lt1"/>
                          </a:solidFill>
                          <a:latin typeface="Arial"/>
                          <a:ea typeface="DejaVu Sans"/>
                        </a:rPr>
                        <a:t>Rapport cyclique (%)</a:t>
                      </a:r>
                      <a:endParaRPr lang="fr-FR" sz="1800" b="0" u="none" strike="noStrike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38160" algn="ctr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1" u="none" strike="noStrike">
                          <a:solidFill>
                            <a:schemeClr val="lt1"/>
                          </a:solidFill>
                          <a:latin typeface="Arial"/>
                          <a:ea typeface="DejaVu Sans"/>
                        </a:rPr>
                        <a:t>Durée état haut (ms)</a:t>
                      </a:r>
                      <a:endParaRPr lang="fr-FR" sz="1800" b="0" u="none" strike="noStrike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38160" algn="ctr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0°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3816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6,9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3816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1,38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3816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+10°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7,7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1,54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-10°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6,1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1,22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18" name="ZoneTexte 24"/>
          <p:cNvSpPr/>
          <p:nvPr/>
        </p:nvSpPr>
        <p:spPr bwMode="auto">
          <a:xfrm>
            <a:off x="0" y="4779720"/>
            <a:ext cx="4889880" cy="160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algn="just" defTabSz="914400">
              <a:lnSpc>
                <a:spcPct val="100000"/>
              </a:lnSpc>
              <a:buClr>
                <a:srgbClr val="746F77"/>
              </a:buClr>
              <a:buFont typeface="Wingdings"/>
              <a:buChar char=""/>
              <a:defRPr/>
            </a:pPr>
            <a:r>
              <a:rPr lang="fr-FR" sz="2400" b="1" u="none" strike="noStrike">
                <a:solidFill>
                  <a:srgbClr val="746F77"/>
                </a:solidFill>
                <a:latin typeface="Arial"/>
                <a:ea typeface="DejaVu Sans"/>
              </a:rPr>
              <a:t>T</a:t>
            </a:r>
            <a:r>
              <a:rPr lang="fr-FR" sz="2400" b="1" u="none" strike="noStrike" baseline="-25000">
                <a:solidFill>
                  <a:srgbClr val="746F77"/>
                </a:solidFill>
                <a:latin typeface="Arial"/>
                <a:ea typeface="DejaVu Sans"/>
              </a:rPr>
              <a:t>PWM Propulsion</a:t>
            </a:r>
            <a:r>
              <a:rPr lang="fr-FR" sz="2400" b="1" u="none" strike="noStrike">
                <a:solidFill>
                  <a:srgbClr val="746F77"/>
                </a:solidFill>
                <a:latin typeface="Arial"/>
                <a:ea typeface="DejaVu Sans"/>
              </a:rPr>
              <a:t> = 20 ms</a:t>
            </a:r>
            <a:endParaRPr lang="fr-FR" sz="2400" b="0" u="none" strike="noStrike">
              <a:solidFill>
                <a:srgbClr val="000000"/>
              </a:solidFill>
              <a:latin typeface="Calibri"/>
            </a:endParaRPr>
          </a:p>
          <a:p>
            <a:pPr algn="just" defTabSz="914400">
              <a:lnSpc>
                <a:spcPct val="100000"/>
              </a:lnSpc>
              <a:defRPr/>
            </a:pPr>
            <a:endParaRPr lang="fr-FR" sz="2400" b="0" u="none" strike="noStrike">
              <a:solidFill>
                <a:srgbClr val="000000"/>
              </a:solidFill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746F77"/>
              </a:buClr>
              <a:buFont typeface="Wingdings"/>
              <a:buChar char=""/>
              <a:defRPr/>
            </a:pPr>
            <a:r>
              <a:rPr lang="fr-FR" sz="2400" b="1" u="none" strike="noStrike">
                <a:solidFill>
                  <a:srgbClr val="746F77"/>
                </a:solidFill>
                <a:latin typeface="Arial"/>
                <a:ea typeface="DejaVu Sans"/>
              </a:rPr>
              <a:t>Rapport cyclique = angle direction</a:t>
            </a:r>
            <a:endParaRPr lang="fr-FR" sz="2400" b="0" u="none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1A3955F2-D5CA-4F40-A15B-2A864FB67495}" type="slidenum">
              <a:rPr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ftr" idx="28"/>
          </p:nvPr>
        </p:nvSpPr>
        <p:spPr bwMode="auto">
          <a:xfrm>
            <a:off x="0" y="6400440"/>
            <a:ext cx="8157600" cy="408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fr-FR" sz="2000" b="1" u="none" strike="noStrike" cap="all">
                <a:solidFill>
                  <a:srgbClr val="FFFFFF"/>
                </a:solidFill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fr-FR" sz="2000" b="1" u="none" strike="noStrike" cap="all">
                <a:solidFill>
                  <a:srgbClr val="FFFFFF"/>
                </a:solidFill>
                <a:latin typeface="Arial"/>
                <a:ea typeface="DejaVu Sans"/>
              </a:rPr>
              <a:t>BTS CIEL - covaCIEL</a:t>
            </a:r>
            <a:endParaRPr lang="fr-FR" sz="2000" b="0" u="none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ZoneTexte 3"/>
          <p:cNvSpPr/>
          <p:nvPr/>
        </p:nvSpPr>
        <p:spPr bwMode="auto">
          <a:xfrm>
            <a:off x="0" y="131400"/>
            <a:ext cx="91414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defRPr/>
            </a:pPr>
            <a:r>
              <a:rPr lang="fr-FR" sz="2800" b="1" u="none" strike="noStrike">
                <a:solidFill>
                  <a:srgbClr val="746F77"/>
                </a:solidFill>
                <a:latin typeface="Arial"/>
                <a:ea typeface="DejaVu Sans"/>
              </a:rPr>
              <a:t>DIRECTION PWM – Ref  KN-0913LVMG KONECT</a:t>
            </a:r>
            <a:endParaRPr lang="fr-FR" sz="2800" b="0" u="none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21" name="Image 2" descr=""/>
          <p:cNvPicPr/>
          <p:nvPr/>
        </p:nvPicPr>
        <p:blipFill>
          <a:blip r:embed="rId2"/>
          <a:stretch/>
        </p:blipFill>
        <p:spPr bwMode="auto">
          <a:xfrm>
            <a:off x="1988280" y="861120"/>
            <a:ext cx="5218560" cy="335880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22" name="Tableau 2"/>
          <p:cNvGraphicFramePr>
            <a:graphicFrameLocks xmlns:a="http://schemas.openxmlformats.org/drawingml/2006/main"/>
          </p:cNvGraphicFramePr>
          <p:nvPr/>
        </p:nvGraphicFramePr>
        <p:xfrm>
          <a:off x="5098320" y="4381920"/>
          <a:ext cx="3962880" cy="175284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803520"/>
                <a:gridCol w="1675800"/>
                <a:gridCol w="1483920"/>
              </a:tblGrid>
              <a:tr h="370800">
                <a:tc>
                  <a:txBody>
                    <a:bodyPr/>
                    <a:p>
                      <a:pPr>
                        <a:defRPr/>
                      </a:pPr>
                      <a:endParaRPr lang="fr-FR" sz="1800" b="1" u="none" strike="noStrike">
                        <a:solidFill>
                          <a:schemeClr val="lt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440" marR="91440" marT="45720" marB="45720" anchor="t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38160" algn="ctr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1" u="none" strike="noStrike">
                          <a:solidFill>
                            <a:schemeClr val="lt1"/>
                          </a:solidFill>
                          <a:latin typeface="Arial"/>
                          <a:ea typeface="DejaVu Sans"/>
                        </a:rPr>
                        <a:t>Rapport cyclique (%)</a:t>
                      </a:r>
                      <a:endParaRPr lang="fr-FR" sz="1800" b="0" u="none" strike="noStrike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38160" algn="ctr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1" u="none" strike="noStrike">
                          <a:solidFill>
                            <a:schemeClr val="lt1"/>
                          </a:solidFill>
                          <a:latin typeface="Arial"/>
                          <a:ea typeface="DejaVu Sans"/>
                        </a:rPr>
                        <a:t>Durée état haut (ms)</a:t>
                      </a:r>
                      <a:endParaRPr lang="fr-FR" sz="1800" b="0" u="none" strike="noStrike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38160" algn="ctr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0°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3816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6,9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3816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1,38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3816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+10°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7,7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1,54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-10°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6,1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1,22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23" name="ZoneTexte 5"/>
          <p:cNvSpPr/>
          <p:nvPr/>
        </p:nvSpPr>
        <p:spPr bwMode="auto">
          <a:xfrm>
            <a:off x="0" y="4779720"/>
            <a:ext cx="4889880" cy="160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algn="just" defTabSz="914400">
              <a:lnSpc>
                <a:spcPct val="100000"/>
              </a:lnSpc>
              <a:buClr>
                <a:srgbClr val="746F77"/>
              </a:buClr>
              <a:buFont typeface="Wingdings"/>
              <a:buChar char=""/>
              <a:defRPr/>
            </a:pPr>
            <a:r>
              <a:rPr lang="fr-FR" sz="2400" b="1" u="none" strike="noStrike">
                <a:solidFill>
                  <a:srgbClr val="746F77"/>
                </a:solidFill>
                <a:latin typeface="Arial"/>
                <a:ea typeface="DejaVu Sans"/>
              </a:rPr>
              <a:t>T</a:t>
            </a:r>
            <a:r>
              <a:rPr lang="fr-FR" sz="2400" b="1" u="none" strike="noStrike" baseline="-25000">
                <a:solidFill>
                  <a:srgbClr val="746F77"/>
                </a:solidFill>
                <a:latin typeface="Arial"/>
                <a:ea typeface="DejaVu Sans"/>
              </a:rPr>
              <a:t>PWM Propulsion</a:t>
            </a:r>
            <a:r>
              <a:rPr lang="fr-FR" sz="2400" b="1" u="none" strike="noStrike">
                <a:solidFill>
                  <a:srgbClr val="746F77"/>
                </a:solidFill>
                <a:latin typeface="Arial"/>
                <a:ea typeface="DejaVu Sans"/>
              </a:rPr>
              <a:t> = 20 ms</a:t>
            </a:r>
            <a:endParaRPr lang="fr-FR" sz="2400" b="0" u="none" strike="noStrike">
              <a:solidFill>
                <a:srgbClr val="000000"/>
              </a:solidFill>
              <a:latin typeface="Calibri"/>
            </a:endParaRPr>
          </a:p>
          <a:p>
            <a:pPr algn="just" defTabSz="914400">
              <a:lnSpc>
                <a:spcPct val="100000"/>
              </a:lnSpc>
              <a:defRPr/>
            </a:pPr>
            <a:endParaRPr lang="fr-FR" sz="2400" b="0" u="none" strike="noStrike">
              <a:solidFill>
                <a:srgbClr val="000000"/>
              </a:solidFill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746F77"/>
              </a:buClr>
              <a:buFont typeface="Wingdings"/>
              <a:buChar char=""/>
              <a:defRPr/>
            </a:pPr>
            <a:r>
              <a:rPr lang="fr-FR" sz="2400" b="1" u="none" strike="noStrike">
                <a:solidFill>
                  <a:srgbClr val="746F77"/>
                </a:solidFill>
                <a:latin typeface="Arial"/>
                <a:ea typeface="DejaVu Sans"/>
              </a:rPr>
              <a:t>Rapport cyclique = angle direction</a:t>
            </a:r>
            <a:endParaRPr lang="fr-FR" sz="2400" b="0" u="none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8165036C-CCB9-4C64-A110-362D0FF4A38E}" type="slidenum">
              <a:rPr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ftr" idx="29"/>
          </p:nvPr>
        </p:nvSpPr>
        <p:spPr bwMode="auto">
          <a:xfrm>
            <a:off x="0" y="6400440"/>
            <a:ext cx="8157600" cy="408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fr-FR" sz="2000" b="1" u="none" strike="noStrike" cap="all">
                <a:solidFill>
                  <a:srgbClr val="FFFFFF"/>
                </a:solidFill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fr-FR" sz="2000" b="1" u="none" strike="noStrike" cap="all">
                <a:solidFill>
                  <a:srgbClr val="FFFFFF"/>
                </a:solidFill>
                <a:latin typeface="Arial"/>
                <a:ea typeface="DejaVu Sans"/>
              </a:rPr>
              <a:t>BTS CIEL - covaCIEL</a:t>
            </a:r>
            <a:endParaRPr lang="fr-FR" sz="2000" b="0" u="none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5" name="ZoneTexte 4"/>
          <p:cNvSpPr/>
          <p:nvPr/>
        </p:nvSpPr>
        <p:spPr bwMode="auto">
          <a:xfrm>
            <a:off x="0" y="131400"/>
            <a:ext cx="91414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defRPr/>
            </a:pPr>
            <a:r>
              <a:rPr lang="fr-FR" sz="3600" b="1" u="none" strike="noStrike">
                <a:solidFill>
                  <a:srgbClr val="746F77"/>
                </a:solidFill>
                <a:latin typeface="Arial"/>
                <a:ea typeface="DejaVu Sans"/>
              </a:rPr>
              <a:t>PROPULSION PWM – Ref ESC</a:t>
            </a:r>
            <a:endParaRPr lang="fr-FR" sz="3600" b="0" u="none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26" name="Image 14" descr=""/>
          <p:cNvPicPr/>
          <p:nvPr/>
        </p:nvPicPr>
        <p:blipFill>
          <a:blip r:embed="rId2"/>
          <a:stretch/>
        </p:blipFill>
        <p:spPr bwMode="auto">
          <a:xfrm>
            <a:off x="1988280" y="708840"/>
            <a:ext cx="5218560" cy="335880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27" name="Tableau 15"/>
          <p:cNvGraphicFramePr>
            <a:graphicFrameLocks xmlns:a="http://schemas.openxmlformats.org/drawingml/2006/main"/>
          </p:cNvGraphicFramePr>
          <p:nvPr/>
        </p:nvGraphicFramePr>
        <p:xfrm>
          <a:off x="3141000" y="4138920"/>
          <a:ext cx="5939640" cy="2048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512000"/>
                <a:gridCol w="2160000"/>
                <a:gridCol w="2268000"/>
              </a:tblGrid>
              <a:tr h="37080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endParaRPr lang="fr-FR" sz="1600" b="1" u="none" strike="noStrike">
                        <a:solidFill>
                          <a:schemeClr val="lt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440" marR="91440" marT="45720" marB="45720" anchor="t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38160" algn="ctr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600" b="1" u="none" strike="noStrike">
                          <a:solidFill>
                            <a:schemeClr val="lt1"/>
                          </a:solidFill>
                          <a:latin typeface="Arial"/>
                          <a:ea typeface="DejaVu Sans"/>
                        </a:rPr>
                        <a:t>Durée état haut (ms)</a:t>
                      </a:r>
                      <a:endParaRPr lang="fr-FR" sz="1600" b="0" u="none" strike="noStrike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38160" algn="ctr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600" b="1" u="none" strike="noStrike">
                          <a:solidFill>
                            <a:schemeClr val="lt1"/>
                          </a:solidFill>
                          <a:latin typeface="Arial"/>
                          <a:ea typeface="DejaVu Sans"/>
                        </a:rPr>
                        <a:t>Rapport cyclique (%)</a:t>
                      </a:r>
                      <a:endParaRPr lang="fr-FR" sz="1600" b="0" u="none" strike="noStrike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38160" algn="ctr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32400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6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0 m/s</a:t>
                      </a:r>
                      <a:endParaRPr lang="fr-FR" sz="16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3816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600" b="0" u="none" strike="noStrike">
                          <a:solidFill>
                            <a:srgbClr val="000000"/>
                          </a:solidFill>
                          <a:latin typeface="Calibri"/>
                          <a:ea typeface="DejaVu Sans"/>
                        </a:rPr>
                        <a:t>1,5</a:t>
                      </a:r>
                      <a:endParaRPr lang="fr-FR" sz="16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3816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6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7,5</a:t>
                      </a:r>
                      <a:endParaRPr lang="fr-FR" sz="16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3816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2400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6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1 m/s</a:t>
                      </a:r>
                      <a:endParaRPr lang="fr-FR" sz="16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600" b="0" u="none" strike="noStrike">
                          <a:solidFill>
                            <a:srgbClr val="000000"/>
                          </a:solidFill>
                          <a:latin typeface="Calibri"/>
                          <a:ea typeface="DejaVu Sans"/>
                        </a:rPr>
                        <a:t>1,6</a:t>
                      </a:r>
                      <a:endParaRPr lang="fr-FR" sz="16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6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8</a:t>
                      </a:r>
                      <a:endParaRPr lang="fr-FR" sz="16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2400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6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2 m/s</a:t>
                      </a:r>
                      <a:endParaRPr lang="fr-FR" sz="16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600" b="0" u="none" strike="noStrike">
                          <a:solidFill>
                            <a:srgbClr val="000000"/>
                          </a:solidFill>
                          <a:latin typeface="Calibri"/>
                          <a:ea typeface="DejaVu Sans"/>
                        </a:rPr>
                        <a:t>1,63</a:t>
                      </a:r>
                      <a:endParaRPr lang="fr-FR" sz="16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6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8,15</a:t>
                      </a:r>
                      <a:endParaRPr lang="fr-FR" sz="16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2400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600" b="0" u="none" strike="noStrike">
                          <a:solidFill>
                            <a:srgbClr val="000000"/>
                          </a:solidFill>
                          <a:latin typeface="Calibri"/>
                          <a:ea typeface="DejaVu Sans"/>
                        </a:rPr>
                        <a:t>Max</a:t>
                      </a:r>
                      <a:endParaRPr lang="fr-FR" sz="16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600" b="0" u="none" strike="noStrike">
                          <a:solidFill>
                            <a:srgbClr val="000000"/>
                          </a:solidFill>
                          <a:latin typeface="Calibri"/>
                          <a:ea typeface="DejaVu Sans"/>
                        </a:rPr>
                        <a:t>2</a:t>
                      </a:r>
                      <a:endParaRPr lang="fr-FR" sz="16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600" b="0" u="none" strike="noStrike">
                          <a:solidFill>
                            <a:srgbClr val="000000"/>
                          </a:solidFill>
                          <a:latin typeface="Calibri"/>
                          <a:ea typeface="DejaVu Sans"/>
                        </a:rPr>
                        <a:t>10</a:t>
                      </a:r>
                      <a:endParaRPr lang="fr-FR" sz="16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2400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6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Marche arrière</a:t>
                      </a:r>
                      <a:endParaRPr lang="fr-FR" sz="16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600" b="0" u="none" strike="noStrike">
                          <a:solidFill>
                            <a:srgbClr val="000000"/>
                          </a:solidFill>
                          <a:latin typeface="Calibri"/>
                          <a:ea typeface="DejaVu Sans"/>
                        </a:rPr>
                        <a:t>1,3</a:t>
                      </a:r>
                      <a:endParaRPr lang="fr-FR" sz="16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6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6,5</a:t>
                      </a:r>
                      <a:endParaRPr lang="fr-FR" sz="16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28" name="ZoneTexte 24"/>
          <p:cNvSpPr/>
          <p:nvPr/>
        </p:nvSpPr>
        <p:spPr bwMode="auto">
          <a:xfrm>
            <a:off x="0" y="4310280"/>
            <a:ext cx="4767840" cy="95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algn="just" defTabSz="914400">
              <a:lnSpc>
                <a:spcPct val="100000"/>
              </a:lnSpc>
              <a:buClr>
                <a:srgbClr val="746F77"/>
              </a:buClr>
              <a:buFont typeface="Wingdings"/>
              <a:buChar char=""/>
              <a:defRPr/>
            </a:pPr>
            <a:r>
              <a:rPr lang="fr-FR" sz="1800" b="1" u="none" strike="noStrike">
                <a:solidFill>
                  <a:srgbClr val="746F77"/>
                </a:solidFill>
                <a:latin typeface="Arial"/>
                <a:ea typeface="DejaVu Sans"/>
              </a:rPr>
              <a:t>T</a:t>
            </a:r>
            <a:r>
              <a:rPr lang="fr-FR" sz="1800" b="1" u="none" strike="noStrike" baseline="-25000">
                <a:solidFill>
                  <a:srgbClr val="746F77"/>
                </a:solidFill>
                <a:latin typeface="Arial"/>
                <a:ea typeface="DejaVu Sans"/>
              </a:rPr>
              <a:t>PWM Propulsion</a:t>
            </a:r>
            <a:r>
              <a:rPr lang="fr-FR" sz="1800" b="1" u="none" strike="noStrike">
                <a:solidFill>
                  <a:srgbClr val="746F77"/>
                </a:solidFill>
                <a:latin typeface="Arial"/>
                <a:ea typeface="DejaVu Sans"/>
              </a:rPr>
              <a:t> = 20 ms</a:t>
            </a:r>
            <a:endParaRPr lang="fr-FR" sz="1800" b="0" u="none" strike="noStrike">
              <a:solidFill>
                <a:srgbClr val="000000"/>
              </a:solidFill>
              <a:latin typeface="Calibri"/>
            </a:endParaRPr>
          </a:p>
          <a:p>
            <a:pPr algn="just" defTabSz="914400">
              <a:lnSpc>
                <a:spcPct val="100000"/>
              </a:lnSpc>
              <a:defRPr/>
            </a:pPr>
            <a:endParaRPr lang="fr-FR" sz="1800" b="0" u="none" strike="noStrike">
              <a:solidFill>
                <a:srgbClr val="000000"/>
              </a:solidFill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746F77"/>
              </a:buClr>
              <a:buFont typeface="Wingdings"/>
              <a:buChar char=""/>
              <a:defRPr/>
            </a:pPr>
            <a:r>
              <a:rPr lang="fr-FR" sz="1800" b="1" u="none" strike="noStrike">
                <a:solidFill>
                  <a:srgbClr val="746F77"/>
                </a:solidFill>
                <a:latin typeface="Arial"/>
                <a:ea typeface="DejaVu Sans"/>
              </a:rPr>
              <a:t>Durée état haut = vitesse</a:t>
            </a:r>
            <a:endParaRPr lang="fr-FR" sz="1800" b="0" u="none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529763F8-098C-4663-BD51-8A81C2224B48}" type="slidenum">
              <a:rPr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ftr" idx="30"/>
          </p:nvPr>
        </p:nvSpPr>
        <p:spPr bwMode="auto">
          <a:xfrm>
            <a:off x="0" y="6400440"/>
            <a:ext cx="8157600" cy="408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fr-FR" sz="2000" b="1" u="none" strike="noStrike" cap="all">
                <a:solidFill>
                  <a:srgbClr val="FFFFFF"/>
                </a:solidFill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fr-FR" sz="2000" b="1" u="none" strike="noStrike" cap="all">
                <a:solidFill>
                  <a:srgbClr val="FFFFFF"/>
                </a:solidFill>
                <a:latin typeface="Arial"/>
                <a:ea typeface="DejaVu Sans"/>
              </a:rPr>
              <a:t>BTS CIEL - covaCIEL</a:t>
            </a:r>
            <a:endParaRPr lang="fr-FR" sz="2000" b="0" u="none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0" name="ZoneTexte 4"/>
          <p:cNvSpPr/>
          <p:nvPr/>
        </p:nvSpPr>
        <p:spPr bwMode="auto">
          <a:xfrm>
            <a:off x="0" y="131400"/>
            <a:ext cx="91414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defRPr/>
            </a:pPr>
            <a:r>
              <a:rPr lang="fr-FR" sz="3600" b="1" u="none" strike="noStrike">
                <a:solidFill>
                  <a:srgbClr val="746F77"/>
                </a:solidFill>
                <a:latin typeface="Arial"/>
                <a:ea typeface="DejaVu Sans"/>
              </a:rPr>
              <a:t>PROPULSION PWM – Ref ESC</a:t>
            </a:r>
            <a:endParaRPr lang="fr-FR" sz="3600" b="0" u="none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1" name="ZoneTexte 24"/>
          <p:cNvSpPr/>
          <p:nvPr/>
        </p:nvSpPr>
        <p:spPr bwMode="auto">
          <a:xfrm>
            <a:off x="79920" y="769680"/>
            <a:ext cx="9065520" cy="548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algn="just" defTabSz="914400">
              <a:lnSpc>
                <a:spcPct val="100000"/>
              </a:lnSpc>
              <a:buClr>
                <a:srgbClr val="746F77"/>
              </a:buClr>
              <a:buFont typeface="Wingdings"/>
              <a:buChar char=""/>
              <a:defRPr/>
            </a:pPr>
            <a:r>
              <a:rPr lang="fr-FR" sz="2400" b="1" u="none" strike="noStrike">
                <a:solidFill>
                  <a:srgbClr val="746F77"/>
                </a:solidFill>
                <a:latin typeface="Arial"/>
                <a:ea typeface="DejaVu Sans"/>
              </a:rPr>
              <a:t>Procédure d’initialisation de l’ESC:</a:t>
            </a:r>
            <a:endParaRPr lang="fr-FR" sz="2400" b="0" u="none" strike="noStrike">
              <a:solidFill>
                <a:srgbClr val="000000"/>
              </a:solidFill>
              <a:latin typeface="Calibri"/>
              <a:ea typeface="Noto Sans SC Regular"/>
            </a:endParaRPr>
          </a:p>
          <a:p>
            <a:pPr marL="360000" algn="just" defTabSz="914400">
              <a:lnSpc>
                <a:spcPct val="100000"/>
              </a:lnSpc>
              <a:buClr>
                <a:srgbClr val="746F77"/>
              </a:buClr>
              <a:buFont typeface="Wingdings"/>
              <a:buChar char=""/>
              <a:defRPr/>
            </a:pPr>
            <a:r>
              <a:rPr lang="fr-FR" sz="2400" b="1" u="none" strike="noStrike">
                <a:solidFill>
                  <a:srgbClr val="746F77"/>
                </a:solidFill>
                <a:latin typeface="Arial"/>
                <a:ea typeface="DejaVu Sans"/>
              </a:rPr>
              <a:t>Après mise sous tension de l’ESC, attendre quelques secondes avant de générer signal de commande PWM</a:t>
            </a:r>
            <a:endParaRPr lang="fr-FR" sz="2400" b="0" u="none" strike="noStrike">
              <a:solidFill>
                <a:srgbClr val="000000"/>
              </a:solidFill>
              <a:latin typeface="Calibri"/>
              <a:ea typeface="Noto Sans SC Regular"/>
            </a:endParaRPr>
          </a:p>
          <a:p>
            <a:pPr marL="360000" algn="just" defTabSz="914400">
              <a:lnSpc>
                <a:spcPct val="100000"/>
              </a:lnSpc>
              <a:buClr>
                <a:srgbClr val="746F77"/>
              </a:buClr>
              <a:buFont typeface="Wingdings"/>
              <a:buChar char=""/>
              <a:defRPr/>
            </a:pPr>
            <a:r>
              <a:rPr lang="fr-FR" sz="2400" b="1" u="none" strike="noStrike">
                <a:solidFill>
                  <a:srgbClr val="746F77"/>
                </a:solidFill>
                <a:latin typeface="Arial"/>
                <a:ea typeface="DejaVu Sans"/>
              </a:rPr>
              <a:t>Générer un signal PWM avec durée à l’état haut = 1.5ms</a:t>
            </a:r>
            <a:endParaRPr lang="fr-FR" sz="2400" b="0" u="none" strike="noStrike">
              <a:solidFill>
                <a:srgbClr val="000000"/>
              </a:solidFill>
              <a:latin typeface="Calibri"/>
              <a:ea typeface="Noto Sans SC Regular"/>
            </a:endParaRPr>
          </a:p>
          <a:p>
            <a:pPr marL="360000" algn="just" defTabSz="914400">
              <a:lnSpc>
                <a:spcPct val="100000"/>
              </a:lnSpc>
              <a:buClr>
                <a:srgbClr val="746F77"/>
              </a:buClr>
              <a:buFont typeface="Wingdings"/>
              <a:buChar char=""/>
              <a:defRPr/>
            </a:pPr>
            <a:r>
              <a:rPr lang="fr-FR" sz="2400" b="1" u="none" strike="noStrike">
                <a:solidFill>
                  <a:srgbClr val="746F77"/>
                </a:solidFill>
                <a:latin typeface="Arial"/>
                <a:ea typeface="DejaVu Sans"/>
              </a:rPr>
              <a:t>Bip sonore indique que ce rapport cyclique est associé au 0m/s du moteur</a:t>
            </a:r>
            <a:endParaRPr lang="fr-FR" sz="2400" b="0" u="none" strike="noStrike">
              <a:solidFill>
                <a:srgbClr val="000000"/>
              </a:solidFill>
              <a:latin typeface="Calibri"/>
              <a:ea typeface="Noto Sans SC Regular"/>
            </a:endParaRPr>
          </a:p>
          <a:p>
            <a:pPr algn="just" defTabSz="914400">
              <a:lnSpc>
                <a:spcPct val="100000"/>
              </a:lnSpc>
              <a:defRPr/>
            </a:pPr>
            <a:endParaRPr lang="fr-FR" sz="2400" b="0" u="none" strike="noStrike">
              <a:solidFill>
                <a:srgbClr val="000000"/>
              </a:solidFill>
              <a:latin typeface="Calibri"/>
              <a:ea typeface="Noto Sans SC Regular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746F77"/>
              </a:buClr>
              <a:buFont typeface="Wingdings"/>
              <a:buChar char=""/>
              <a:defRPr/>
            </a:pPr>
            <a:r>
              <a:rPr lang="fr-FR" sz="2400" b="1" u="none" strike="noStrike">
                <a:solidFill>
                  <a:srgbClr val="746F77"/>
                </a:solidFill>
                <a:latin typeface="Arial"/>
                <a:ea typeface="DejaVu Sans"/>
              </a:rPr>
              <a:t>Procédure à suivre pour la marche arrière:</a:t>
            </a:r>
            <a:endParaRPr lang="fr-FR" sz="2400" b="0" u="none" strike="noStrike">
              <a:solidFill>
                <a:srgbClr val="000000"/>
              </a:solidFill>
              <a:latin typeface="Calibri"/>
              <a:ea typeface="Noto Sans SC Regular"/>
            </a:endParaRPr>
          </a:p>
          <a:p>
            <a:pPr marL="800280" lvl="1" indent="-343080" algn="just" defTabSz="914400">
              <a:lnSpc>
                <a:spcPct val="100000"/>
              </a:lnSpc>
              <a:buClr>
                <a:srgbClr val="746F77"/>
              </a:buClr>
              <a:buFont typeface="Arial"/>
              <a:buChar char="•"/>
              <a:defRPr/>
            </a:pPr>
            <a:r>
              <a:rPr lang="fr-FR" sz="2400" b="1" u="none" strike="noStrike">
                <a:solidFill>
                  <a:srgbClr val="746F77"/>
                </a:solidFill>
                <a:latin typeface="Arial"/>
                <a:ea typeface="DejaVu Sans"/>
              </a:rPr>
              <a:t>freinage pendant 0,3s : durée à l’état haut  = 1 ms, rapport cyclique = 5%;</a:t>
            </a:r>
            <a:endParaRPr lang="fr-FR" sz="2400" b="0" u="none" strike="noStrike">
              <a:solidFill>
                <a:srgbClr val="000000"/>
              </a:solidFill>
              <a:latin typeface="Calibri"/>
              <a:ea typeface="Noto Sans SC Regular"/>
            </a:endParaRPr>
          </a:p>
          <a:p>
            <a:pPr marL="800280" lvl="1" indent="-343080" algn="just" defTabSz="914400">
              <a:lnSpc>
                <a:spcPct val="100000"/>
              </a:lnSpc>
              <a:buClr>
                <a:srgbClr val="746F77"/>
              </a:buClr>
              <a:buFont typeface="Arial"/>
              <a:buChar char="•"/>
              <a:defRPr/>
            </a:pPr>
            <a:r>
              <a:rPr lang="fr-FR" sz="2400" b="1" u="none" strike="noStrike">
                <a:solidFill>
                  <a:srgbClr val="746F77"/>
                </a:solidFill>
                <a:latin typeface="Arial"/>
                <a:ea typeface="DejaVu Sans"/>
              </a:rPr>
              <a:t>passage au point mort pendant 0,3s: durée à l’état haut  = 1,5 ms, rapport cyclique = 7,5%;</a:t>
            </a:r>
            <a:endParaRPr lang="fr-FR" sz="2400" b="0" u="none" strike="noStrike">
              <a:solidFill>
                <a:srgbClr val="000000"/>
              </a:solidFill>
              <a:latin typeface="Calibri"/>
              <a:ea typeface="Noto Sans SC Regular"/>
            </a:endParaRPr>
          </a:p>
          <a:p>
            <a:pPr marL="800280" lvl="1" indent="-343080" algn="just" defTabSz="914400">
              <a:lnSpc>
                <a:spcPct val="100000"/>
              </a:lnSpc>
              <a:buClr>
                <a:srgbClr val="746F77"/>
              </a:buClr>
              <a:buFont typeface="Arial"/>
              <a:buChar char="•"/>
              <a:defRPr/>
            </a:pPr>
            <a:r>
              <a:rPr lang="fr-FR" sz="2400" b="1" u="none" strike="noStrike">
                <a:solidFill>
                  <a:srgbClr val="746F77"/>
                </a:solidFill>
                <a:latin typeface="Arial"/>
                <a:ea typeface="DejaVu Sans"/>
              </a:rPr>
              <a:t>marche arrière à vitesse réglable: durée à l’état haut  entre 1,2 et 1,4ms, rapport cyclique entre 6 et 7%;</a:t>
            </a:r>
            <a:endParaRPr lang="fr-FR" sz="2400" b="0" u="none" strike="noStrike">
              <a:solidFill>
                <a:srgbClr val="000000"/>
              </a:solidFill>
              <a:latin typeface="Calibri"/>
              <a:ea typeface="Noto Sans SC Regular"/>
            </a:endParaRPr>
          </a:p>
          <a:p>
            <a:pPr algn="just" defTabSz="914400">
              <a:lnSpc>
                <a:spcPct val="100000"/>
              </a:lnSpc>
              <a:defRPr/>
            </a:pPr>
            <a:endParaRPr lang="fr-FR" sz="1800" b="0" u="none" strike="noStrike">
              <a:solidFill>
                <a:srgbClr val="000000"/>
              </a:solidFill>
              <a:latin typeface="Calibri"/>
              <a:ea typeface="Noto Sans SC Regular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6D94C5CE-1BC0-4502-AFBD-D2A7BFAE85E1}" type="slidenum">
              <a:rPr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ftr" idx="31"/>
          </p:nvPr>
        </p:nvSpPr>
        <p:spPr bwMode="auto">
          <a:xfrm>
            <a:off x="0" y="6400440"/>
            <a:ext cx="8157600" cy="408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fr-FR" sz="2000" b="1" u="none" strike="noStrike" cap="all">
                <a:solidFill>
                  <a:srgbClr val="FFFFFF"/>
                </a:solidFill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fr-FR" sz="2000" b="1" u="none" strike="noStrike" cap="all">
                <a:solidFill>
                  <a:srgbClr val="FFFFFF"/>
                </a:solidFill>
                <a:latin typeface="Arial"/>
                <a:ea typeface="DejaVu Sans"/>
              </a:rPr>
              <a:t>BTS CIEL - covaCIEL</a:t>
            </a:r>
            <a:endParaRPr lang="fr-FR" sz="2000" b="0" u="none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3" name="ZoneTexte 1"/>
          <p:cNvSpPr/>
          <p:nvPr/>
        </p:nvSpPr>
        <p:spPr bwMode="auto">
          <a:xfrm>
            <a:off x="0" y="131400"/>
            <a:ext cx="91414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defRPr/>
            </a:pPr>
            <a:r>
              <a:rPr lang="fr-FR" sz="2800" b="1" u="none" strike="noStrike">
                <a:solidFill>
                  <a:srgbClr val="746F77"/>
                </a:solidFill>
                <a:latin typeface="Arial"/>
                <a:ea typeface="DejaVu Sans"/>
              </a:rPr>
              <a:t>Capteur ToF – NOOPLOOP TofSense</a:t>
            </a:r>
            <a:endParaRPr lang="fr-FR" sz="2800" b="0" u="none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4" name="ZoneTexte 2"/>
          <p:cNvSpPr/>
          <p:nvPr/>
        </p:nvSpPr>
        <p:spPr bwMode="auto">
          <a:xfrm>
            <a:off x="52560" y="682920"/>
            <a:ext cx="8864280" cy="557603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algn="just" defTabSz="914400">
              <a:lnSpc>
                <a:spcPct val="100000"/>
              </a:lnSpc>
              <a:buClr>
                <a:srgbClr val="746F77"/>
              </a:buClr>
              <a:buFont typeface="Wingdings"/>
              <a:buChar char=""/>
              <a:defRPr/>
            </a:pPr>
            <a:r>
              <a:rPr lang="fr-FR" sz="2400" b="1" u="none" strike="noStrike">
                <a:solidFill>
                  <a:srgbClr val="746F77"/>
                </a:solidFill>
                <a:latin typeface="Arial"/>
                <a:ea typeface="DejaVu Sans"/>
              </a:rPr>
              <a:t>Attention erreur de câblage :</a:t>
            </a:r>
            <a:endParaRPr lang="fr-FR" sz="2400" b="0" u="none" strike="noStrike">
              <a:solidFill>
                <a:srgbClr val="000000"/>
              </a:solidFill>
              <a:latin typeface="Calibri"/>
              <a:ea typeface="Noto Sans SC Regular"/>
            </a:endParaRPr>
          </a:p>
          <a:p>
            <a:pPr marL="360000" algn="just" defTabSz="914400">
              <a:lnSpc>
                <a:spcPct val="100000"/>
              </a:lnSpc>
              <a:buClr>
                <a:srgbClr val="746F77"/>
              </a:buClr>
              <a:buFont typeface="Wingdings"/>
              <a:buChar char=""/>
              <a:defRPr/>
            </a:pPr>
            <a:r>
              <a:rPr lang="fr-FR" sz="2400" b="1" u="none" strike="noStrike">
                <a:solidFill>
                  <a:srgbClr val="746F77"/>
                </a:solidFill>
                <a:latin typeface="Arial"/>
                <a:ea typeface="DejaVu Sans"/>
              </a:rPr>
              <a:t>Fil rouge = masse</a:t>
            </a:r>
            <a:endParaRPr lang="fr-FR" sz="2400" b="0" u="none" strike="noStrike">
              <a:solidFill>
                <a:srgbClr val="000000"/>
              </a:solidFill>
              <a:latin typeface="Calibri"/>
              <a:ea typeface="Noto Sans SC Regular"/>
            </a:endParaRPr>
          </a:p>
          <a:p>
            <a:pPr marL="360000" algn="just" defTabSz="914400">
              <a:lnSpc>
                <a:spcPct val="100000"/>
              </a:lnSpc>
              <a:buClr>
                <a:srgbClr val="746F77"/>
              </a:buClr>
              <a:buFont typeface="Wingdings"/>
              <a:buChar char=""/>
              <a:defRPr/>
            </a:pPr>
            <a:r>
              <a:rPr lang="fr-FR" sz="2400" b="1" u="none" strike="noStrike">
                <a:solidFill>
                  <a:srgbClr val="746F77"/>
                </a:solidFill>
                <a:latin typeface="Arial"/>
                <a:ea typeface="DejaVu Sans"/>
              </a:rPr>
              <a:t>Fil noir = 5V</a:t>
            </a:r>
            <a:endParaRPr lang="fr-FR" sz="2400" b="0" u="none" strike="noStrike">
              <a:solidFill>
                <a:srgbClr val="000000"/>
              </a:solidFill>
              <a:latin typeface="Calibri"/>
              <a:ea typeface="Noto Sans SC Regular"/>
            </a:endParaRPr>
          </a:p>
          <a:p>
            <a:pPr algn="just" defTabSz="914400">
              <a:lnSpc>
                <a:spcPct val="100000"/>
              </a:lnSpc>
              <a:defRPr/>
            </a:pPr>
            <a:endParaRPr lang="fr-FR" sz="2400" b="0" u="none" strike="noStrike">
              <a:solidFill>
                <a:srgbClr val="000000"/>
              </a:solidFill>
              <a:latin typeface="Calibri"/>
              <a:ea typeface="Noto Sans SC Regular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746F77"/>
              </a:buClr>
              <a:buFont typeface="Wingdings"/>
              <a:buChar char=""/>
              <a:defRPr/>
            </a:pPr>
            <a:r>
              <a:rPr lang="fr-FR" sz="2400" b="1" u="none" strike="noStrike">
                <a:solidFill>
                  <a:srgbClr val="746F77"/>
                </a:solidFill>
                <a:latin typeface="Arial"/>
                <a:ea typeface="DejaVu Sans"/>
              </a:rPr>
              <a:t>Relier les capteurs ToF en cascade</a:t>
            </a:r>
            <a:endParaRPr lang="fr-FR" sz="2400" b="0" u="none" strike="noStrike">
              <a:solidFill>
                <a:srgbClr val="000000"/>
              </a:solidFill>
              <a:latin typeface="Calibri"/>
              <a:ea typeface="Noto Sans SC Regular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746F77"/>
              </a:buClr>
              <a:buFont typeface="Wingdings"/>
              <a:buChar char=""/>
              <a:defRPr/>
            </a:pPr>
            <a:endParaRPr lang="fr-FR" sz="2400" b="0" u="none" strike="noStrike">
              <a:solidFill>
                <a:srgbClr val="000000"/>
              </a:solidFill>
              <a:latin typeface="Calibri"/>
              <a:ea typeface="Noto Sans SC Regular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746F77"/>
              </a:buClr>
              <a:buFont typeface="Wingdings"/>
              <a:buChar char=""/>
              <a:defRPr/>
            </a:pPr>
            <a:r>
              <a:rPr lang="fr-FR" sz="2400" b="1" u="none" strike="noStrike">
                <a:solidFill>
                  <a:srgbClr val="746F77"/>
                </a:solidFill>
                <a:latin typeface="Arial"/>
                <a:ea typeface="DejaVu Sans"/>
              </a:rPr>
              <a:t>Configuration sur le logiciel NAssistant :</a:t>
            </a:r>
            <a:endParaRPr lang="fr-FR" sz="2400" b="0" u="none" strike="noStrike">
              <a:solidFill>
                <a:srgbClr val="000000"/>
              </a:solidFill>
              <a:latin typeface="Calibri"/>
              <a:ea typeface="Noto Sans SC Regular"/>
            </a:endParaRPr>
          </a:p>
          <a:p>
            <a:pPr marL="360000" algn="just" defTabSz="914400">
              <a:lnSpc>
                <a:spcPct val="100000"/>
              </a:lnSpc>
              <a:buClr>
                <a:srgbClr val="746F77"/>
              </a:buClr>
              <a:buFont typeface="Wingdings"/>
              <a:buChar char=""/>
              <a:defRPr/>
            </a:pPr>
            <a:r>
              <a:rPr lang="fr-FR" sz="2400" b="1" u="none" strike="noStrike">
                <a:solidFill>
                  <a:srgbClr val="746F77"/>
                </a:solidFill>
                <a:latin typeface="Arial"/>
                <a:ea typeface="DejaVu Sans"/>
              </a:rPr>
              <a:t>Interface UART</a:t>
            </a:r>
            <a:endParaRPr lang="fr-FR" sz="2400" b="0" u="none" strike="noStrike">
              <a:solidFill>
                <a:srgbClr val="000000"/>
              </a:solidFill>
              <a:latin typeface="Calibri"/>
              <a:ea typeface="Noto Sans SC Regular"/>
            </a:endParaRPr>
          </a:p>
          <a:p>
            <a:pPr marL="360000" algn="just" defTabSz="914400">
              <a:lnSpc>
                <a:spcPct val="100000"/>
              </a:lnSpc>
              <a:buClr>
                <a:srgbClr val="746F77"/>
              </a:buClr>
              <a:buFont typeface="Wingdings"/>
              <a:buChar char=""/>
              <a:defRPr/>
            </a:pPr>
            <a:r>
              <a:rPr lang="fr-FR" sz="2400" b="1" u="none" strike="noStrike">
                <a:solidFill>
                  <a:srgbClr val="746F77"/>
                </a:solidFill>
                <a:latin typeface="Arial"/>
                <a:ea typeface="DejaVu Sans"/>
              </a:rPr>
              <a:t>Data output mode = INQUIRE (mode requête )</a:t>
            </a:r>
            <a:endParaRPr lang="fr-FR" sz="2400" b="0" u="none" strike="noStrike">
              <a:solidFill>
                <a:srgbClr val="000000"/>
              </a:solidFill>
              <a:latin typeface="Calibri"/>
              <a:ea typeface="Noto Sans SC Regular"/>
            </a:endParaRPr>
          </a:p>
          <a:p>
            <a:pPr marL="360000" algn="just" defTabSz="914400">
              <a:lnSpc>
                <a:spcPct val="100000"/>
              </a:lnSpc>
              <a:buClr>
                <a:srgbClr val="746F77"/>
              </a:buClr>
              <a:buFont typeface="Wingdings"/>
              <a:buChar char=""/>
              <a:defRPr/>
            </a:pPr>
            <a:r>
              <a:rPr lang="fr-FR" sz="2400" b="1" u="none" strike="noStrike">
                <a:solidFill>
                  <a:srgbClr val="746F77"/>
                </a:solidFill>
                <a:latin typeface="Arial"/>
                <a:ea typeface="DejaVu Sans"/>
              </a:rPr>
              <a:t>Attribuer un ID différent à chaque capteur ToF</a:t>
            </a:r>
            <a:endParaRPr lang="fr-FR" sz="2400" b="0" u="none" strike="noStrike">
              <a:solidFill>
                <a:srgbClr val="000000"/>
              </a:solidFill>
              <a:latin typeface="Calibri"/>
              <a:ea typeface="Noto Sans SC Regular"/>
            </a:endParaRPr>
          </a:p>
          <a:p>
            <a:pPr marL="360000" algn="just" defTabSz="914400">
              <a:lnSpc>
                <a:spcPct val="100000"/>
              </a:lnSpc>
              <a:buClr>
                <a:srgbClr val="746F77"/>
              </a:buClr>
              <a:buFont typeface="Wingdings"/>
              <a:buChar char=""/>
              <a:defRPr/>
            </a:pPr>
            <a:r>
              <a:rPr lang="fr-FR" sz="2400" b="1" u="none" strike="noStrike">
                <a:solidFill>
                  <a:srgbClr val="746F77"/>
                </a:solidFill>
                <a:latin typeface="Arial"/>
                <a:ea typeface="DejaVu Sans"/>
              </a:rPr>
              <a:t>Trame de requête de l’uc vers le capteur ToF: Cf Nlink_TOFSense_Read_Frame dans User Manual</a:t>
            </a:r>
            <a:endParaRPr lang="fr-FR" sz="2400" b="0" u="none" strike="noStrike">
              <a:solidFill>
                <a:srgbClr val="000000"/>
              </a:solidFill>
              <a:latin typeface="Calibri"/>
              <a:ea typeface="Noto Sans SC Regular"/>
            </a:endParaRPr>
          </a:p>
          <a:p>
            <a:pPr marL="360000" algn="just" defTabSz="914400">
              <a:lnSpc>
                <a:spcPct val="100000"/>
              </a:lnSpc>
              <a:buClr>
                <a:srgbClr val="746F77"/>
              </a:buClr>
              <a:buFont typeface="Wingdings"/>
              <a:buChar char=""/>
              <a:defRPr/>
            </a:pPr>
            <a:r>
              <a:rPr lang="fr-FR" sz="2400" b="1" u="none" strike="noStrike">
                <a:solidFill>
                  <a:srgbClr val="746F77"/>
                </a:solidFill>
                <a:latin typeface="Arial"/>
                <a:ea typeface="DejaVu Sans"/>
              </a:rPr>
              <a:t>Trame de réponse du capteur ToF vers l’uc: Cf Nlink_TOF_Sense_Frame0 dans User Manual</a:t>
            </a:r>
            <a:endParaRPr lang="fr-FR" sz="2400" b="0" u="none" strike="noStrike">
              <a:solidFill>
                <a:srgbClr val="000000"/>
              </a:solidFill>
              <a:latin typeface="Calibri"/>
              <a:ea typeface="Noto Sans SC Regular"/>
            </a:endParaRPr>
          </a:p>
          <a:p>
            <a:pPr marL="360000" algn="just" defTabSz="914400">
              <a:lnSpc>
                <a:spcPct val="100000"/>
              </a:lnSpc>
              <a:defRPr/>
            </a:pPr>
            <a:endParaRPr lang="fr-FR" sz="2400" b="0" u="none" strike="noStrike">
              <a:solidFill>
                <a:srgbClr val="000000"/>
              </a:solidFill>
              <a:latin typeface="Calibri"/>
              <a:ea typeface="Noto Sans SC Regular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9EB37BA0-CF6D-4365-A56E-483445B62A9E}" type="slidenum">
              <a:rPr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ftr" idx="32"/>
          </p:nvPr>
        </p:nvSpPr>
        <p:spPr bwMode="auto">
          <a:xfrm>
            <a:off x="0" y="6400440"/>
            <a:ext cx="8157600" cy="408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fr-FR" sz="2000" b="1" u="none" strike="noStrike" cap="all">
                <a:solidFill>
                  <a:srgbClr val="FFFFFF"/>
                </a:solidFill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fr-FR" sz="2000" b="1" u="none" strike="noStrike" cap="all">
                <a:solidFill>
                  <a:srgbClr val="FFFFFF"/>
                </a:solidFill>
                <a:latin typeface="Arial"/>
                <a:ea typeface="DejaVu Sans"/>
              </a:rPr>
              <a:t>BTS CIEL - covaCIEL</a:t>
            </a:r>
            <a:endParaRPr lang="fr-FR" sz="2000" b="0" u="none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6" name="ZoneTexte 4"/>
          <p:cNvSpPr/>
          <p:nvPr/>
        </p:nvSpPr>
        <p:spPr bwMode="auto">
          <a:xfrm>
            <a:off x="0" y="131400"/>
            <a:ext cx="91414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defRPr/>
            </a:pPr>
            <a:r>
              <a:rPr lang="fr-FR" sz="3600" b="1" u="none" strike="noStrike">
                <a:solidFill>
                  <a:srgbClr val="746F77"/>
                </a:solidFill>
                <a:latin typeface="Arial"/>
                <a:ea typeface="DejaVu Sans"/>
              </a:rPr>
              <a:t>Bus CAN Messagerie</a:t>
            </a:r>
            <a:endParaRPr lang="fr-FR" sz="3600" b="0" u="none" strike="noStrike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137" name="Tableau 15"/>
          <p:cNvGraphicFramePr>
            <a:graphicFrameLocks xmlns:a="http://schemas.openxmlformats.org/drawingml/2006/main"/>
          </p:cNvGraphicFramePr>
          <p:nvPr/>
        </p:nvGraphicFramePr>
        <p:xfrm>
          <a:off x="488880" y="1193400"/>
          <a:ext cx="7811640" cy="212364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620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1440000"/>
              </a:tblGrid>
              <a:tr h="37080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1" u="none" strike="noStrike">
                          <a:solidFill>
                            <a:schemeClr val="lt1"/>
                          </a:solidFill>
                          <a:latin typeface="Arial"/>
                          <a:ea typeface="DejaVu Sans"/>
                        </a:rPr>
                        <a:t>Cartes</a:t>
                      </a:r>
                      <a:endParaRPr lang="fr-FR" sz="1800" b="0" u="none" strike="noStrike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38160" algn="ctr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  <a:tc gridSpan="11"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1" u="none" strike="noStrike">
                          <a:solidFill>
                            <a:schemeClr val="lt1"/>
                          </a:solidFill>
                          <a:latin typeface="Arial"/>
                          <a:ea typeface="DejaVu Sans"/>
                        </a:rPr>
                        <a:t>CAN-ID</a:t>
                      </a:r>
                      <a:endParaRPr lang="fr-FR" sz="1800" b="0" u="none" strike="noStrike">
                        <a:solidFill>
                          <a:srgbClr val="FFFFFF"/>
                        </a:solidFill>
                        <a:latin typeface="Calibri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1" u="none" strike="noStrike">
                          <a:solidFill>
                            <a:schemeClr val="lt1"/>
                          </a:solidFill>
                          <a:latin typeface="Arial"/>
                          <a:ea typeface="DejaVu Sans"/>
                        </a:rPr>
                        <a:t>(binaire)</a:t>
                      </a:r>
                      <a:endParaRPr lang="fr-FR" sz="1800" b="0" u="none" strike="noStrike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38160" algn="ctr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1" u="none" strike="noStrike">
                          <a:solidFill>
                            <a:schemeClr val="lt1"/>
                          </a:solidFill>
                          <a:latin typeface="Arial"/>
                          <a:ea typeface="DejaVu Sans"/>
                        </a:rPr>
                        <a:t>CAN-ID</a:t>
                      </a:r>
                      <a:endParaRPr lang="fr-FR" sz="1800" b="0" u="none" strike="noStrike">
                        <a:solidFill>
                          <a:srgbClr val="FFFFFF"/>
                        </a:solidFill>
                        <a:latin typeface="Calibri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1" u="none" strike="noStrike">
                          <a:solidFill>
                            <a:schemeClr val="lt1"/>
                          </a:solidFill>
                          <a:latin typeface="Arial"/>
                          <a:ea typeface="DejaVu Sans"/>
                        </a:rPr>
                        <a:t>(hexa)</a:t>
                      </a:r>
                      <a:endParaRPr lang="fr-FR" sz="1800" b="0" u="none" strike="noStrike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38160" algn="ctr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Propulsion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3816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1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3816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1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0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0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1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1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0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0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0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0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0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0x660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3816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Direction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1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1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0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0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1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1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0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0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1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0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0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  <a:miter/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0x664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  <a:miter/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Avant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  <a:miter/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1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  <a:miter/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1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  <a:miter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0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  <a:miter/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0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  <a:miter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1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1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  <a:round/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0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0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  <a:miter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1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1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0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0x666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Arrière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1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1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0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0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1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1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  <a:round/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0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0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1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1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1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0x667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8" name="ZoneTexte 24"/>
          <p:cNvSpPr/>
          <p:nvPr/>
        </p:nvSpPr>
        <p:spPr bwMode="auto">
          <a:xfrm>
            <a:off x="0" y="767879"/>
            <a:ext cx="43934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algn="just" defTabSz="914400">
              <a:lnSpc>
                <a:spcPct val="100000"/>
              </a:lnSpc>
              <a:buClr>
                <a:srgbClr val="746F77"/>
              </a:buClr>
              <a:buFont typeface="Wingdings"/>
              <a:buChar char=""/>
              <a:defRPr/>
            </a:pPr>
            <a:r>
              <a:rPr lang="fr-FR" sz="2400" b="1" u="none" strike="noStrike">
                <a:solidFill>
                  <a:srgbClr val="746F77"/>
                </a:solidFill>
                <a:latin typeface="Arial"/>
                <a:ea typeface="DejaVu Sans"/>
              </a:rPr>
              <a:t>CAN-ID Standard</a:t>
            </a:r>
            <a:endParaRPr lang="fr-FR" sz="2400" b="0" u="none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9" name="ZoneTexte 24"/>
          <p:cNvSpPr/>
          <p:nvPr/>
        </p:nvSpPr>
        <p:spPr bwMode="auto">
          <a:xfrm>
            <a:off x="0" y="3273480"/>
            <a:ext cx="43934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algn="just" defTabSz="914400">
              <a:lnSpc>
                <a:spcPct val="100000"/>
              </a:lnSpc>
              <a:buClr>
                <a:srgbClr val="746F77"/>
              </a:buClr>
              <a:buFont typeface="Wingdings"/>
              <a:buChar char=""/>
              <a:defRPr/>
            </a:pPr>
            <a:r>
              <a:rPr lang="fr-FR" sz="2400" b="1" u="none" strike="noStrike">
                <a:solidFill>
                  <a:srgbClr val="746F77"/>
                </a:solidFill>
                <a:latin typeface="Arial"/>
                <a:ea typeface="DejaVu Sans"/>
              </a:rPr>
              <a:t>Structure Champs Donnée</a:t>
            </a:r>
            <a:endParaRPr lang="fr-FR" sz="2400" b="0" u="none" strike="noStrike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140" name="Tableau 5"/>
          <p:cNvGraphicFramePr>
            <a:graphicFrameLocks xmlns:a="http://schemas.openxmlformats.org/drawingml/2006/main"/>
          </p:cNvGraphicFramePr>
          <p:nvPr/>
        </p:nvGraphicFramePr>
        <p:xfrm>
          <a:off x="121320" y="3733920"/>
          <a:ext cx="8927640" cy="252072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116000"/>
                <a:gridCol w="900000"/>
                <a:gridCol w="1152000"/>
                <a:gridCol w="1152000"/>
                <a:gridCol w="1152000"/>
                <a:gridCol w="1152000"/>
                <a:gridCol w="1152000"/>
                <a:gridCol w="1152000"/>
              </a:tblGrid>
              <a:tr h="37080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600" b="1" u="none" strike="noStrike">
                          <a:solidFill>
                            <a:schemeClr val="lt1"/>
                          </a:solidFill>
                          <a:latin typeface="Arial"/>
                          <a:ea typeface="DejaVu Sans"/>
                        </a:rPr>
                        <a:t>Cartes</a:t>
                      </a:r>
                      <a:endParaRPr lang="fr-FR" sz="1600" b="0" u="none" strike="noStrike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38160" algn="ctr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600" b="1" u="none" strike="noStrike">
                          <a:solidFill>
                            <a:schemeClr val="lt1"/>
                          </a:solidFill>
                          <a:latin typeface="Arial"/>
                          <a:ea typeface="DejaVu Sans"/>
                        </a:rPr>
                        <a:t>CAN-ID</a:t>
                      </a:r>
                      <a:endParaRPr lang="fr-FR" sz="1600" b="0" u="none" strike="noStrike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38160" algn="ctr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  <a:tc gridSpan="6"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600" b="1" u="none" strike="noStrike">
                          <a:solidFill>
                            <a:schemeClr val="lt1"/>
                          </a:solidFill>
                          <a:latin typeface="Arial"/>
                          <a:ea typeface="DejaVu Sans"/>
                        </a:rPr>
                        <a:t>Champs Données</a:t>
                      </a:r>
                      <a:endParaRPr lang="fr-FR" sz="1600" b="0" u="none" strike="noStrike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38160" algn="ctr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37080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endParaRPr lang="fr-FR" sz="1400" b="0" u="none" strike="noStrike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440" marR="91440" marT="45720" marB="45720" anchor="t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3816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endParaRPr lang="fr-FR" sz="1400" b="0" u="none" strike="noStrike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440" marR="91440" marT="45720" marB="45720" anchor="t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3816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400" b="1" u="none" strike="noStrike">
                          <a:solidFill>
                            <a:schemeClr val="lt1"/>
                          </a:solidFill>
                          <a:latin typeface="Arial"/>
                          <a:ea typeface="DejaVu Sans"/>
                        </a:rPr>
                        <a:t>Octet 0</a:t>
                      </a:r>
                      <a:endParaRPr lang="fr-FR" sz="1400" b="0" u="none" strike="noStrike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3816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400" b="1" u="none" strike="noStrike">
                          <a:solidFill>
                            <a:schemeClr val="lt1"/>
                          </a:solidFill>
                          <a:latin typeface="Arial"/>
                          <a:ea typeface="DejaVu Sans"/>
                        </a:rPr>
                        <a:t>Octet 1</a:t>
                      </a:r>
                      <a:endParaRPr lang="fr-FR" sz="1400" b="0" u="none" strike="noStrike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400" b="1" u="none" strike="noStrike">
                          <a:solidFill>
                            <a:schemeClr val="lt1"/>
                          </a:solidFill>
                          <a:latin typeface="Arial"/>
                          <a:ea typeface="DejaVu Sans"/>
                        </a:rPr>
                        <a:t>Octet 2</a:t>
                      </a:r>
                      <a:endParaRPr lang="fr-FR" sz="1400" b="0" u="none" strike="noStrike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400" b="1" u="none" strike="noStrike">
                          <a:solidFill>
                            <a:schemeClr val="lt1"/>
                          </a:solidFill>
                          <a:latin typeface="Arial"/>
                          <a:ea typeface="DejaVu Sans"/>
                        </a:rPr>
                        <a:t>Octet 3</a:t>
                      </a:r>
                      <a:endParaRPr lang="fr-FR" sz="1400" b="0" u="none" strike="noStrike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400" b="1" u="none" strike="noStrike">
                          <a:solidFill>
                            <a:schemeClr val="lt1"/>
                          </a:solidFill>
                          <a:latin typeface="Arial"/>
                          <a:ea typeface="DejaVu Sans"/>
                        </a:rPr>
                        <a:t>Octet 4</a:t>
                      </a:r>
                      <a:endParaRPr lang="fr-FR" sz="1400" b="0" u="none" strike="noStrike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 algn="ctr">
                      <a:solidFill>
                        <a:srgbClr val="FFFFFF"/>
                      </a:solidFill>
                      <a:miter/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400" b="1" u="none" strike="noStrike">
                          <a:solidFill>
                            <a:schemeClr val="lt1"/>
                          </a:solidFill>
                          <a:latin typeface="Arial"/>
                          <a:ea typeface="DejaVu Sans"/>
                        </a:rPr>
                        <a:t>Octet 5</a:t>
                      </a:r>
                      <a:endParaRPr lang="fr-FR" sz="1400" b="0" u="none" strike="noStrike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Propulsion</a:t>
                      </a:r>
                      <a:endParaRPr lang="fr-FR" sz="14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0x660</a:t>
                      </a:r>
                      <a:endParaRPr lang="fr-FR" sz="14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Accélérer</a:t>
                      </a:r>
                      <a:endParaRPr lang="fr-FR" sz="14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Ralentir</a:t>
                      </a:r>
                      <a:endParaRPr lang="fr-FR" sz="14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Stop</a:t>
                      </a:r>
                      <a:endParaRPr lang="fr-FR" sz="14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Reculer</a:t>
                      </a:r>
                      <a:endParaRPr lang="fr-FR" sz="14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endParaRPr lang="fr-FR" sz="1400" b="0" u="none" strike="noStrike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endParaRPr lang="fr-FR" sz="1400" b="0" u="none" strike="noStrike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  <a:round/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Direction</a:t>
                      </a:r>
                      <a:endParaRPr lang="fr-FR" sz="14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0x664</a:t>
                      </a:r>
                      <a:endParaRPr lang="fr-FR" sz="14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Gauche</a:t>
                      </a:r>
                      <a:endParaRPr lang="fr-FR" sz="14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Droite</a:t>
                      </a:r>
                      <a:endParaRPr lang="fr-FR" sz="14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  <a:miter/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Devant</a:t>
                      </a:r>
                      <a:endParaRPr lang="fr-FR" sz="14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endParaRPr lang="fr-FR" sz="1400" b="0" u="none" strike="noStrike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endParaRPr lang="fr-FR" sz="1400" b="0" u="none" strike="noStrike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endParaRPr lang="fr-FR" sz="1400" b="0" u="none" strike="noStrike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13968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Avant</a:t>
                      </a:r>
                      <a:endParaRPr lang="fr-FR" sz="14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0x666</a:t>
                      </a:r>
                      <a:endParaRPr lang="fr-FR" sz="14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Gauche</a:t>
                      </a:r>
                      <a:endParaRPr lang="fr-FR" sz="14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(MSB)</a:t>
                      </a:r>
                      <a:endParaRPr lang="fr-FR" sz="14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Gauche</a:t>
                      </a:r>
                      <a:endParaRPr lang="fr-FR" sz="14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(LSB)</a:t>
                      </a:r>
                      <a:endParaRPr lang="fr-FR" sz="14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Devant</a:t>
                      </a:r>
                      <a:endParaRPr lang="fr-FR" sz="14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(MSB)</a:t>
                      </a:r>
                      <a:endParaRPr lang="fr-FR" sz="14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Devant</a:t>
                      </a:r>
                      <a:endParaRPr lang="fr-FR" sz="14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(LSB)</a:t>
                      </a:r>
                      <a:endParaRPr lang="fr-FR" sz="14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Droite</a:t>
                      </a:r>
                      <a:endParaRPr lang="fr-FR" sz="14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(MSB)</a:t>
                      </a:r>
                      <a:endParaRPr lang="fr-FR" sz="14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Droite</a:t>
                      </a:r>
                      <a:endParaRPr lang="fr-FR" sz="14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(LSB)</a:t>
                      </a:r>
                      <a:endParaRPr lang="fr-FR" sz="14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Arrière</a:t>
                      </a:r>
                      <a:endParaRPr lang="fr-FR" sz="14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0x667</a:t>
                      </a:r>
                      <a:endParaRPr lang="fr-FR" sz="14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Gauche</a:t>
                      </a:r>
                      <a:endParaRPr lang="fr-FR" sz="14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(MSB)</a:t>
                      </a:r>
                      <a:endParaRPr lang="fr-FR" sz="14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Gauche</a:t>
                      </a:r>
                      <a:endParaRPr lang="fr-FR" sz="14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(LSB)</a:t>
                      </a:r>
                      <a:endParaRPr lang="fr-FR" sz="14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  <a:round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Devant</a:t>
                      </a:r>
                      <a:endParaRPr lang="fr-FR" sz="14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(MSB)</a:t>
                      </a:r>
                      <a:endParaRPr lang="fr-FR" sz="14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Devant</a:t>
                      </a:r>
                      <a:endParaRPr lang="fr-FR" sz="14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(LSB)</a:t>
                      </a:r>
                      <a:endParaRPr lang="fr-FR" sz="14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Droite</a:t>
                      </a:r>
                      <a:endParaRPr lang="fr-FR" sz="14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(MSB)</a:t>
                      </a:r>
                      <a:endParaRPr lang="fr-FR" sz="14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  <a:round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Droite</a:t>
                      </a:r>
                      <a:endParaRPr lang="fr-FR" sz="14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(LSB)</a:t>
                      </a:r>
                      <a:endParaRPr lang="fr-FR" sz="1400" b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41" name="ZoneTexte 24"/>
          <p:cNvSpPr/>
          <p:nvPr/>
        </p:nvSpPr>
        <p:spPr bwMode="auto">
          <a:xfrm>
            <a:off x="3481920" y="759960"/>
            <a:ext cx="43934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algn="just" defTabSz="914400">
              <a:lnSpc>
                <a:spcPct val="100000"/>
              </a:lnSpc>
              <a:buClr>
                <a:srgbClr val="746F77"/>
              </a:buClr>
              <a:buFont typeface="Wingdings"/>
              <a:buChar char=""/>
              <a:defRPr/>
            </a:pPr>
            <a:r>
              <a:rPr lang="fr-FR" sz="2400" b="1" u="none" strike="noStrike">
                <a:solidFill>
                  <a:srgbClr val="746F77"/>
                </a:solidFill>
                <a:latin typeface="Arial"/>
                <a:ea typeface="DejaVu Sans"/>
              </a:rPr>
              <a:t>Débit binaire = 250 kbit/s</a:t>
            </a:r>
            <a:endParaRPr lang="fr-FR" sz="2400" b="0" u="none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A8502C97-12CA-4C8C-8F1A-63F876E0706E}" type="slidenum">
              <a:rPr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ftr" idx="33"/>
          </p:nvPr>
        </p:nvSpPr>
        <p:spPr bwMode="auto">
          <a:xfrm>
            <a:off x="0" y="6400440"/>
            <a:ext cx="8157600" cy="408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fr-FR" sz="2000" b="1" u="none" strike="noStrike" cap="all">
                <a:solidFill>
                  <a:srgbClr val="FFFFFF"/>
                </a:solidFill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fr-FR" sz="2000" b="1" u="none" strike="noStrike" cap="all">
                <a:solidFill>
                  <a:srgbClr val="FFFFFF"/>
                </a:solidFill>
                <a:latin typeface="Arial"/>
                <a:ea typeface="DejaVu Sans"/>
              </a:rPr>
              <a:t>BTS CIEL - covaCIEL</a:t>
            </a:r>
            <a:endParaRPr lang="fr-FR" sz="2000" b="0" u="none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3" name="ZoneTexte 4"/>
          <p:cNvSpPr/>
          <p:nvPr/>
        </p:nvSpPr>
        <p:spPr bwMode="auto">
          <a:xfrm>
            <a:off x="0" y="131400"/>
            <a:ext cx="91414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defRPr/>
            </a:pPr>
            <a:r>
              <a:rPr lang="fr-FR" sz="3600" b="1" u="none" strike="noStrike">
                <a:solidFill>
                  <a:srgbClr val="746F77"/>
                </a:solidFill>
                <a:latin typeface="Arial"/>
                <a:ea typeface="DejaVu Sans"/>
              </a:rPr>
              <a:t>Mesure &amp; Décodage</a:t>
            </a:r>
            <a:endParaRPr lang="fr-FR" sz="3600" b="0" u="none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4" name="ZoneTexte 24"/>
          <p:cNvSpPr/>
          <p:nvPr/>
        </p:nvSpPr>
        <p:spPr bwMode="auto">
          <a:xfrm>
            <a:off x="0" y="849960"/>
            <a:ext cx="43934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algn="just" defTabSz="914400">
              <a:lnSpc>
                <a:spcPct val="100000"/>
              </a:lnSpc>
              <a:buClr>
                <a:srgbClr val="746F77"/>
              </a:buClr>
              <a:buFont typeface="Wingdings"/>
              <a:buChar char=""/>
              <a:defRPr/>
            </a:pPr>
            <a:r>
              <a:rPr lang="fr-FR" sz="2400" b="1" u="none" strike="noStrike">
                <a:solidFill>
                  <a:srgbClr val="C00000"/>
                </a:solidFill>
                <a:latin typeface="Arial"/>
                <a:ea typeface="DejaVu Sans"/>
              </a:rPr>
              <a:t>Accélérer</a:t>
            </a:r>
            <a:r>
              <a:rPr lang="fr-FR" sz="2400" b="1" u="none" strike="noStrike">
                <a:solidFill>
                  <a:srgbClr val="746F77"/>
                </a:solidFill>
                <a:latin typeface="Arial"/>
                <a:ea typeface="DejaVu Sans"/>
              </a:rPr>
              <a:t> + </a:t>
            </a:r>
            <a:r>
              <a:rPr lang="fr-FR" sz="2400" b="1" u="none" strike="noStrike">
                <a:solidFill>
                  <a:srgbClr val="00B050"/>
                </a:solidFill>
                <a:latin typeface="Arial"/>
                <a:ea typeface="DejaVu Sans"/>
              </a:rPr>
              <a:t>Devant</a:t>
            </a:r>
            <a:endParaRPr lang="fr-FR" sz="2400" b="0" u="none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45" name="Image 21" descr=""/>
          <p:cNvPicPr/>
          <p:nvPr/>
        </p:nvPicPr>
        <p:blipFill>
          <a:blip r:embed="rId2"/>
          <a:stretch/>
        </p:blipFill>
        <p:spPr bwMode="auto">
          <a:xfrm>
            <a:off x="136440" y="1265400"/>
            <a:ext cx="4498560" cy="186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6" name="Image 23" descr=""/>
          <p:cNvPicPr/>
          <p:nvPr/>
        </p:nvPicPr>
        <p:blipFill>
          <a:blip r:embed="rId3"/>
          <a:stretch/>
        </p:blipFill>
        <p:spPr bwMode="auto">
          <a:xfrm>
            <a:off x="4668840" y="1244160"/>
            <a:ext cx="4498560" cy="191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ZoneTexte 24"/>
          <p:cNvSpPr/>
          <p:nvPr/>
        </p:nvSpPr>
        <p:spPr bwMode="auto">
          <a:xfrm>
            <a:off x="4915080" y="849960"/>
            <a:ext cx="43934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algn="just" defTabSz="914400">
              <a:lnSpc>
                <a:spcPct val="100000"/>
              </a:lnSpc>
              <a:buClr>
                <a:srgbClr val="746F77"/>
              </a:buClr>
              <a:buFont typeface="Wingdings"/>
              <a:buChar char=""/>
              <a:defRPr/>
            </a:pPr>
            <a:r>
              <a:rPr lang="fr-FR" sz="2400" b="1" u="none" strike="noStrike">
                <a:solidFill>
                  <a:srgbClr val="C00000"/>
                </a:solidFill>
                <a:latin typeface="Arial"/>
                <a:ea typeface="DejaVu Sans"/>
              </a:rPr>
              <a:t>Ralentir</a:t>
            </a:r>
            <a:r>
              <a:rPr lang="fr-FR" sz="2400" b="1" u="none" strike="noStrike">
                <a:solidFill>
                  <a:srgbClr val="746F77"/>
                </a:solidFill>
                <a:latin typeface="Arial"/>
                <a:ea typeface="DejaVu Sans"/>
              </a:rPr>
              <a:t> + </a:t>
            </a:r>
            <a:r>
              <a:rPr lang="fr-FR" sz="2400" b="1" u="none" strike="noStrike">
                <a:solidFill>
                  <a:srgbClr val="00B050"/>
                </a:solidFill>
                <a:latin typeface="Arial"/>
                <a:ea typeface="DejaVu Sans"/>
              </a:rPr>
              <a:t>Devant</a:t>
            </a:r>
            <a:endParaRPr lang="fr-FR" sz="2400" b="0" u="none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8" name="ZoneTexte 24"/>
          <p:cNvSpPr/>
          <p:nvPr/>
        </p:nvSpPr>
        <p:spPr bwMode="auto">
          <a:xfrm>
            <a:off x="0" y="3687480"/>
            <a:ext cx="43934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algn="just" defTabSz="914400">
              <a:lnSpc>
                <a:spcPct val="100000"/>
              </a:lnSpc>
              <a:buClr>
                <a:srgbClr val="746F77"/>
              </a:buClr>
              <a:buFont typeface="Wingdings"/>
              <a:buChar char=""/>
              <a:defRPr/>
            </a:pPr>
            <a:r>
              <a:rPr lang="fr-FR" sz="2400" b="1" u="none" strike="noStrike">
                <a:solidFill>
                  <a:srgbClr val="C00000"/>
                </a:solidFill>
                <a:latin typeface="Arial"/>
                <a:ea typeface="DejaVu Sans"/>
              </a:rPr>
              <a:t>Ralentir</a:t>
            </a:r>
            <a:r>
              <a:rPr lang="fr-FR" sz="2400" b="1" u="none" strike="noStrike">
                <a:solidFill>
                  <a:srgbClr val="746F77"/>
                </a:solidFill>
                <a:latin typeface="Arial"/>
                <a:ea typeface="DejaVu Sans"/>
              </a:rPr>
              <a:t> + </a:t>
            </a:r>
            <a:r>
              <a:rPr lang="fr-FR" sz="2400" b="1" u="none" strike="noStrike">
                <a:solidFill>
                  <a:srgbClr val="00B050"/>
                </a:solidFill>
                <a:latin typeface="Arial"/>
                <a:ea typeface="DejaVu Sans"/>
              </a:rPr>
              <a:t>Droite</a:t>
            </a:r>
            <a:endParaRPr lang="fr-FR" sz="2400" b="0" u="none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9" name="ZoneTexte 24"/>
          <p:cNvSpPr/>
          <p:nvPr/>
        </p:nvSpPr>
        <p:spPr bwMode="auto">
          <a:xfrm>
            <a:off x="4902120" y="3708000"/>
            <a:ext cx="43934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algn="just" defTabSz="914400">
              <a:lnSpc>
                <a:spcPct val="100000"/>
              </a:lnSpc>
              <a:buClr>
                <a:srgbClr val="746F77"/>
              </a:buClr>
              <a:buFont typeface="Wingdings"/>
              <a:buChar char=""/>
              <a:defRPr/>
            </a:pPr>
            <a:r>
              <a:rPr lang="fr-FR" sz="2400" b="1" u="none" strike="noStrike">
                <a:solidFill>
                  <a:srgbClr val="C00000"/>
                </a:solidFill>
                <a:latin typeface="Arial"/>
                <a:ea typeface="DejaVu Sans"/>
              </a:rPr>
              <a:t>Ralentir</a:t>
            </a:r>
            <a:r>
              <a:rPr lang="fr-FR" sz="2400" b="1" u="none" strike="noStrike">
                <a:solidFill>
                  <a:srgbClr val="746F77"/>
                </a:solidFill>
                <a:latin typeface="Arial"/>
                <a:ea typeface="DejaVu Sans"/>
              </a:rPr>
              <a:t> + </a:t>
            </a:r>
            <a:r>
              <a:rPr lang="fr-FR" sz="2400" b="1" u="none" strike="noStrike">
                <a:solidFill>
                  <a:srgbClr val="00B050"/>
                </a:solidFill>
                <a:latin typeface="Arial"/>
                <a:ea typeface="DejaVu Sans"/>
              </a:rPr>
              <a:t>Gauche</a:t>
            </a:r>
            <a:endParaRPr lang="fr-FR" sz="2400" b="0" u="none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50" name="Image 28" descr=""/>
          <p:cNvPicPr/>
          <p:nvPr/>
        </p:nvPicPr>
        <p:blipFill>
          <a:blip r:embed="rId4"/>
          <a:stretch/>
        </p:blipFill>
        <p:spPr bwMode="auto">
          <a:xfrm>
            <a:off x="136440" y="4176000"/>
            <a:ext cx="4498560" cy="1918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1" name="Image 30" descr=""/>
          <p:cNvPicPr/>
          <p:nvPr/>
        </p:nvPicPr>
        <p:blipFill>
          <a:blip r:embed="rId5"/>
          <a:stretch/>
        </p:blipFill>
        <p:spPr bwMode="auto">
          <a:xfrm>
            <a:off x="4668840" y="4176000"/>
            <a:ext cx="4498560" cy="192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Rectangle : coins arrondis 31"/>
          <p:cNvSpPr/>
          <p:nvPr/>
        </p:nvSpPr>
        <p:spPr bwMode="auto">
          <a:xfrm>
            <a:off x="3381120" y="2792880"/>
            <a:ext cx="175680" cy="168840"/>
          </a:xfrm>
          <a:prstGeom prst="roundRect">
            <a:avLst>
              <a:gd name="adj" fmla="val 1666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fr-FR" sz="1800" b="0" u="none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cxnSp>
        <p:nvCxnSpPr>
          <p:cNvPr id="153" name="Connecteur droit avec flèche 33"/>
          <p:cNvCxnSpPr>
            <a:cxnSpLocks/>
          </p:cNvCxnSpPr>
          <p:nvPr/>
        </p:nvCxnSpPr>
        <p:spPr bwMode="auto">
          <a:xfrm>
            <a:off x="1268640" y="1244160"/>
            <a:ext cx="2113920" cy="1613880"/>
          </a:xfrm>
          <a:prstGeom prst="straightConnector1">
            <a:avLst/>
          </a:prstGeom>
          <a:ln w="38100">
            <a:solidFill>
              <a:srgbClr val="C00000"/>
            </a:solidFill>
            <a:round/>
            <a:tailEnd type="triangle" w="med" len="med"/>
          </a:ln>
        </p:spPr>
      </p:cxnSp>
      <p:cxnSp>
        <p:nvCxnSpPr>
          <p:cNvPr id="154" name="Connecteur droit avec flèche 34"/>
          <p:cNvCxnSpPr>
            <a:cxnSpLocks/>
          </p:cNvCxnSpPr>
          <p:nvPr/>
        </p:nvCxnSpPr>
        <p:spPr bwMode="auto">
          <a:xfrm>
            <a:off x="2709720" y="1180080"/>
            <a:ext cx="1041120" cy="1745280"/>
          </a:xfrm>
          <a:prstGeom prst="straightConnector1">
            <a:avLst/>
          </a:prstGeom>
          <a:ln w="38100">
            <a:solidFill>
              <a:srgbClr val="00B050"/>
            </a:solidFill>
            <a:round/>
            <a:tailEnd type="triangle" w="med" len="med"/>
          </a:ln>
        </p:spPr>
      </p:cxnSp>
      <p:sp>
        <p:nvSpPr>
          <p:cNvPr id="155" name="Rectangle : coins arrondis 35"/>
          <p:cNvSpPr/>
          <p:nvPr/>
        </p:nvSpPr>
        <p:spPr bwMode="auto">
          <a:xfrm>
            <a:off x="3661200" y="2945160"/>
            <a:ext cx="175680" cy="168840"/>
          </a:xfrm>
          <a:prstGeom prst="roundRect">
            <a:avLst>
              <a:gd name="adj" fmla="val 16667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fr-FR" sz="1800" b="0" u="none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156" name="Rectangle : coins arrondis 37"/>
          <p:cNvSpPr/>
          <p:nvPr/>
        </p:nvSpPr>
        <p:spPr bwMode="auto">
          <a:xfrm>
            <a:off x="8117280" y="2795760"/>
            <a:ext cx="175680" cy="168840"/>
          </a:xfrm>
          <a:prstGeom prst="roundRect">
            <a:avLst>
              <a:gd name="adj" fmla="val 1666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fr-FR" sz="1800" b="0" u="none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cxnSp>
        <p:nvCxnSpPr>
          <p:cNvPr id="157" name="Connecteur droit avec flèche 38"/>
          <p:cNvCxnSpPr>
            <a:cxnSpLocks/>
          </p:cNvCxnSpPr>
          <p:nvPr/>
        </p:nvCxnSpPr>
        <p:spPr bwMode="auto">
          <a:xfrm>
            <a:off x="6004800" y="1247040"/>
            <a:ext cx="2113560" cy="1613880"/>
          </a:xfrm>
          <a:prstGeom prst="straightConnector1">
            <a:avLst/>
          </a:prstGeom>
          <a:ln w="38100">
            <a:solidFill>
              <a:srgbClr val="C00000"/>
            </a:solidFill>
            <a:round/>
            <a:tailEnd type="triangle" w="med" len="med"/>
          </a:ln>
        </p:spPr>
      </p:cxnSp>
      <p:cxnSp>
        <p:nvCxnSpPr>
          <p:cNvPr id="158" name="Connecteur droit avec flèche 39"/>
          <p:cNvCxnSpPr>
            <a:cxnSpLocks/>
          </p:cNvCxnSpPr>
          <p:nvPr/>
        </p:nvCxnSpPr>
        <p:spPr bwMode="auto">
          <a:xfrm>
            <a:off x="7445880" y="1183320"/>
            <a:ext cx="905760" cy="1741320"/>
          </a:xfrm>
          <a:prstGeom prst="straightConnector1">
            <a:avLst/>
          </a:prstGeom>
          <a:ln w="38100">
            <a:solidFill>
              <a:srgbClr val="00B050"/>
            </a:solidFill>
            <a:round/>
            <a:tailEnd type="triangle" w="med" len="med"/>
          </a:ln>
        </p:spPr>
      </p:cxnSp>
      <p:sp>
        <p:nvSpPr>
          <p:cNvPr id="159" name="Rectangle : coins arrondis 40"/>
          <p:cNvSpPr/>
          <p:nvPr/>
        </p:nvSpPr>
        <p:spPr bwMode="auto">
          <a:xfrm>
            <a:off x="8283960" y="2955240"/>
            <a:ext cx="175680" cy="168840"/>
          </a:xfrm>
          <a:prstGeom prst="roundRect">
            <a:avLst>
              <a:gd name="adj" fmla="val 16667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fr-FR" sz="1800" b="0" u="none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160" name="Rectangle : coins arrondis 42"/>
          <p:cNvSpPr/>
          <p:nvPr/>
        </p:nvSpPr>
        <p:spPr bwMode="auto">
          <a:xfrm>
            <a:off x="3611519" y="5745960"/>
            <a:ext cx="175680" cy="168840"/>
          </a:xfrm>
          <a:prstGeom prst="roundRect">
            <a:avLst>
              <a:gd name="adj" fmla="val 1666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fr-FR" sz="1800" b="0" u="none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cxnSp>
        <p:nvCxnSpPr>
          <p:cNvPr id="161" name="Connecteur droit avec flèche 43"/>
          <p:cNvCxnSpPr>
            <a:cxnSpLocks/>
          </p:cNvCxnSpPr>
          <p:nvPr/>
        </p:nvCxnSpPr>
        <p:spPr bwMode="auto">
          <a:xfrm>
            <a:off x="1499040" y="4197240"/>
            <a:ext cx="2113920" cy="1613520"/>
          </a:xfrm>
          <a:prstGeom prst="straightConnector1">
            <a:avLst/>
          </a:prstGeom>
          <a:ln w="38100">
            <a:solidFill>
              <a:srgbClr val="C00000"/>
            </a:solidFill>
            <a:round/>
            <a:tailEnd type="triangle" w="med" len="med"/>
          </a:ln>
        </p:spPr>
      </p:cxnSp>
      <p:cxnSp>
        <p:nvCxnSpPr>
          <p:cNvPr id="162" name="Connecteur droit avec flèche 44"/>
          <p:cNvCxnSpPr>
            <a:cxnSpLocks/>
          </p:cNvCxnSpPr>
          <p:nvPr/>
        </p:nvCxnSpPr>
        <p:spPr bwMode="auto">
          <a:xfrm>
            <a:off x="2502000" y="4089240"/>
            <a:ext cx="1104120" cy="1919880"/>
          </a:xfrm>
          <a:prstGeom prst="straightConnector1">
            <a:avLst/>
          </a:prstGeom>
          <a:ln w="38100">
            <a:solidFill>
              <a:srgbClr val="00B050"/>
            </a:solidFill>
            <a:round/>
            <a:tailEnd type="triangle" w="med" len="med"/>
          </a:ln>
        </p:spPr>
      </p:cxnSp>
      <p:sp>
        <p:nvSpPr>
          <p:cNvPr id="163" name="Rectangle : coins arrondis 45"/>
          <p:cNvSpPr/>
          <p:nvPr/>
        </p:nvSpPr>
        <p:spPr bwMode="auto">
          <a:xfrm>
            <a:off x="3629160" y="5925960"/>
            <a:ext cx="175680" cy="168840"/>
          </a:xfrm>
          <a:prstGeom prst="roundRect">
            <a:avLst>
              <a:gd name="adj" fmla="val 16667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fr-FR" sz="1800" b="0" u="none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164" name="Rectangle : coins arrondis 49"/>
          <p:cNvSpPr/>
          <p:nvPr/>
        </p:nvSpPr>
        <p:spPr bwMode="auto">
          <a:xfrm>
            <a:off x="8120160" y="5732280"/>
            <a:ext cx="175680" cy="168840"/>
          </a:xfrm>
          <a:prstGeom prst="roundRect">
            <a:avLst>
              <a:gd name="adj" fmla="val 1666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fr-FR" sz="1800" b="0" u="none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cxnSp>
        <p:nvCxnSpPr>
          <p:cNvPr id="165" name="Connecteur droit avec flèche 50"/>
          <p:cNvCxnSpPr>
            <a:cxnSpLocks/>
          </p:cNvCxnSpPr>
          <p:nvPr/>
        </p:nvCxnSpPr>
        <p:spPr bwMode="auto">
          <a:xfrm>
            <a:off x="6007680" y="4183560"/>
            <a:ext cx="2113560" cy="1613520"/>
          </a:xfrm>
          <a:prstGeom prst="straightConnector1">
            <a:avLst/>
          </a:prstGeom>
          <a:ln w="38100">
            <a:solidFill>
              <a:srgbClr val="C00000"/>
            </a:solidFill>
            <a:round/>
            <a:tailEnd type="triangle" w="med" len="med"/>
          </a:ln>
        </p:spPr>
      </p:cxnSp>
      <p:cxnSp>
        <p:nvCxnSpPr>
          <p:cNvPr id="166" name="Connecteur droit avec flèche 51"/>
          <p:cNvCxnSpPr>
            <a:cxnSpLocks/>
          </p:cNvCxnSpPr>
          <p:nvPr/>
        </p:nvCxnSpPr>
        <p:spPr bwMode="auto">
          <a:xfrm>
            <a:off x="7010640" y="4075560"/>
            <a:ext cx="993600" cy="1837800"/>
          </a:xfrm>
          <a:prstGeom prst="straightConnector1">
            <a:avLst/>
          </a:prstGeom>
          <a:ln w="38100">
            <a:solidFill>
              <a:srgbClr val="00B050"/>
            </a:solidFill>
            <a:round/>
            <a:tailEnd type="triangle" w="med" len="med"/>
          </a:ln>
        </p:spPr>
      </p:cxnSp>
      <p:sp>
        <p:nvSpPr>
          <p:cNvPr id="167" name="Rectangle : coins arrondis 52"/>
          <p:cNvSpPr/>
          <p:nvPr/>
        </p:nvSpPr>
        <p:spPr bwMode="auto">
          <a:xfrm>
            <a:off x="8003160" y="5912280"/>
            <a:ext cx="175680" cy="168840"/>
          </a:xfrm>
          <a:prstGeom prst="roundRect">
            <a:avLst>
              <a:gd name="adj" fmla="val 16667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fr-FR" sz="1800" b="0" u="none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23C1FBE3-11CC-4D80-8382-8FAF7F1572A2}" type="slidenum">
              <a:rPr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0</Words>
  <Application>ONLYOFFICE/7.2.2.56</Application>
  <DocSecurity>0</DocSecurity>
  <PresentationFormat/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Manager/>
  <Company>Groupe Hospitalier Paul GUIRAUD</Company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Antoine AZAN</dc:creator>
  <cp:keywords/>
  <dc:description/>
  <dc:identifier/>
  <dc:language>fr-FR</dc:language>
  <cp:lastModifiedBy>sguivarch</cp:lastModifiedBy>
  <cp:revision>803</cp:revision>
  <dcterms:created xsi:type="dcterms:W3CDTF">2017-09-09T12:10:52Z</dcterms:created>
  <dcterms:modified xsi:type="dcterms:W3CDTF">2026-04-29T07:53:57Z</dcterms:modified>
  <cp:category/>
  <cp:contentStatus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r8>3.000000</vt:r8>
  </property>
  <property fmtid="{D5CDD505-2E9C-101B-9397-08002B2CF9AE}" pid="3" name="Notes">
    <vt:r8>1.000000</vt:r8>
  </property>
  <property fmtid="{D5CDD505-2E9C-101B-9397-08002B2CF9AE}" pid="4" name="PresentationFormat">
    <vt:lpwstr>Affichage à l'écran (4:3)</vt:lpwstr>
  </property>
  <property fmtid="{D5CDD505-2E9C-101B-9397-08002B2CF9AE}" pid="5" name="Slides">
    <vt:i4>5</vt:i4>
  </property>
</Properties>
</file>